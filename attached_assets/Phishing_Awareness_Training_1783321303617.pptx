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group. Frame the session as practical and scenario-driven, not a compliance checkbox: everyone is a target, and the goal today is to build fast, reliable instincts for spotting phishing before it costs the company money or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stat briefly. The 21-second median time-to-click is the most important number in the room — it means there is no time to 'think it over' once someone starts to engage with a lure; the decision has to be made in the moment, which is why pattern recognition matters more than willpower. End on the KnowBe4 stat to set an optimistic, motivating tone: training measurably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column by column. Emphasize that modern AI-written phishing has largely fixed the grammar problem (tell #5), so the other four flags — sender domain, urgency, link mismatch, and unexpected attachments — matter more than ever. Encourage attendees to hover over links (not click) to preview the real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two URL bars as a live demo: ask the room to spot the difference before you point it out. Reinforce the 'read backward from the first slash' trick, since it's the single most reliable technique for spotting lookalike domains regardless of how convincing the rest of the page looks.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tactics combine constantly — a pretexting call ('this is IT') often pairs with urgency ('your account will be locked in 10 minutes') and authority impersonation all at once. The unifying defense is the same regardless of which lever is used: slow down and verify through a separate, known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slide as the 'muscle memory' slide — these six habits, done consistently, are more effective than any single piece of technical knowledge. If time is short, tell the room that 'verify through a second channel' is the single highest-leverage habit of the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Department of Justice-prosecuted case (US v. Rimasauskas, SDNY). The key lesson: this wasn't a crude scam — it exploited an existing, legitimate vendor relationship, which is exactly why 'verify through a second channel, using a known contact,' would have stopped it at any point over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references the widely reported 2013 Target breach via its HVAC vendor Fazio Mechanical. The point isn't the specific company — it's that your inbox may be a stepping stone to somewhere else entirely, so the stakes of a single click extend beyond your own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slide people should screenshot. Suggest they pin it near their desk or save it as a phone photo. Reiterate: when in doubt, don't act — report and wait for confirmation, since the cost of a 10-minute delay is always lower than the cost of a mistaken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empowerment, not fear: the goal of this training isn't to make people paranoid about every email, it's to give them a fast, repeatable check so normal work isn't disrupted but suspicious activity gets caught early. End by pointing to wherever your organization's real reporting mechanism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778240" y="-1645920"/>
            <a:ext cx="5486400" cy="5486400"/>
          </a:xfrm>
          <a:prstGeom prst="ellipse">
            <a:avLst/>
          </a:prstGeom>
          <a:solidFill>
            <a:srgbClr val="3E5C76">
              <a:alpha val="25000"/>
            </a:srgbClr>
          </a:solidFill>
          <a:ln/>
        </p:spPr>
      </p:sp>
      <p:sp>
        <p:nvSpPr>
          <p:cNvPr id="3" name="Shape 1"/>
          <p:cNvSpPr/>
          <p:nvPr/>
        </p:nvSpPr>
        <p:spPr>
          <a:xfrm>
            <a:off x="-1828800" y="4114800"/>
            <a:ext cx="4572000" cy="4572000"/>
          </a:xfrm>
          <a:prstGeom prst="ellipse">
            <a:avLst/>
          </a:prstGeom>
          <a:solidFill>
            <a:srgbClr val="D7263D">
              <a:alpha val="15000"/>
            </a:srgbClr>
          </a:solidFill>
          <a:ln/>
        </p:spPr>
      </p:sp>
      <p:pic>
        <p:nvPicPr>
          <p:cNvPr id="4" name="Image 0" descr="preencoded.png">    </p:cNvPr>
          <p:cNvPicPr>
            <a:picLocks noChangeAspect="1"/>
          </p:cNvPicPr>
          <p:nvPr/>
        </p:nvPicPr>
        <p:blipFill>
          <a:blip r:embed="rId1"/>
          <a:stretch>
            <a:fillRect/>
          </a:stretch>
        </p:blipFill>
        <p:spPr>
          <a:xfrm>
            <a:off x="822960" y="1417320"/>
            <a:ext cx="914400" cy="914400"/>
          </a:xfrm>
          <a:prstGeom prst="rect">
            <a:avLst/>
          </a:prstGeom>
        </p:spPr>
      </p:pic>
      <p:sp>
        <p:nvSpPr>
          <p:cNvPr id="5" name="Text 2"/>
          <p:cNvSpPr/>
          <p:nvPr/>
        </p:nvSpPr>
        <p:spPr>
          <a:xfrm>
            <a:off x="822960" y="260604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PHISHING AWARENESS TRAINING</a:t>
            </a:r>
            <a:endParaRPr lang="en-US" sz="4000" dirty="0"/>
          </a:p>
        </p:txBody>
      </p:sp>
      <p:sp>
        <p:nvSpPr>
          <p:cNvPr id="6" name="Text 3"/>
          <p:cNvSpPr/>
          <p:nvPr/>
        </p:nvSpPr>
        <p:spPr>
          <a:xfrm>
            <a:off x="822960" y="3520440"/>
            <a:ext cx="8686800" cy="548640"/>
          </a:xfrm>
          <a:prstGeom prst="rect">
            <a:avLst/>
          </a:prstGeom>
          <a:noFill/>
          <a:ln/>
        </p:spPr>
        <p:txBody>
          <a:bodyPr wrap="square" lIns="0" tIns="0" rIns="0" bIns="0" rtlCol="0" anchor="ctr"/>
          <a:lstStyle/>
          <a:p>
            <a:pPr indent="0" marL="0">
              <a:buNone/>
            </a:pPr>
            <a:r>
              <a:rPr lang="en-US" sz="1800" dirty="0">
                <a:solidFill>
                  <a:srgbClr val="C7D0DE"/>
                </a:solidFill>
                <a:latin typeface="Calibri" pitchFamily="34" charset="0"/>
                <a:ea typeface="Calibri" pitchFamily="34" charset="-122"/>
                <a:cs typeface="Calibri" pitchFamily="34" charset="-120"/>
              </a:rPr>
              <a:t>Recognize the bait. Verify before you click. Protect the organization.</a:t>
            </a:r>
            <a:endParaRPr lang="en-US" sz="1800" dirty="0"/>
          </a:p>
        </p:txBody>
      </p:sp>
      <p:sp>
        <p:nvSpPr>
          <p:cNvPr id="7" name="Shape 4"/>
          <p:cNvSpPr/>
          <p:nvPr/>
        </p:nvSpPr>
        <p:spPr>
          <a:xfrm>
            <a:off x="822960" y="4251960"/>
            <a:ext cx="2011680" cy="0"/>
          </a:xfrm>
          <a:prstGeom prst="line">
            <a:avLst/>
          </a:prstGeom>
          <a:noFill/>
          <a:ln w="38100">
            <a:solidFill>
              <a:srgbClr val="D7263D"/>
            </a:solidFill>
            <a:prstDash val="solid"/>
          </a:ln>
        </p:spPr>
      </p:sp>
      <p:sp>
        <p:nvSpPr>
          <p:cNvPr id="8" name="Text 5"/>
          <p:cNvSpPr/>
          <p:nvPr/>
        </p:nvSpPr>
        <p:spPr>
          <a:xfrm>
            <a:off x="822960" y="4480560"/>
            <a:ext cx="7772400" cy="822960"/>
          </a:xfrm>
          <a:prstGeom prst="rect">
            <a:avLst/>
          </a:prstGeom>
          <a:noFill/>
          <a:ln/>
        </p:spPr>
        <p:txBody>
          <a:bodyPr wrap="square" lIns="0" tIns="0" rIns="0" bIns="0" rtlCol="0" anchor="ctr"/>
          <a:lstStyle/>
          <a:p>
            <a:pPr indent="0" marL="0">
              <a:buNone/>
            </a:pPr>
            <a:r>
              <a:rPr lang="en-US" sz="1300" dirty="0">
                <a:solidFill>
                  <a:srgbClr val="9AA6B8"/>
                </a:solidFill>
                <a:latin typeface="Calibri" pitchFamily="34" charset="0"/>
                <a:ea typeface="Calibri" pitchFamily="34" charset="-122"/>
                <a:cs typeface="Calibri" pitchFamily="34" charset="-120"/>
              </a:rPr>
              <a:t>A practical guide to spotting phishing emails, fake websites, and the social</a:t>
            </a:r>
            <a:endParaRPr lang="en-US" sz="1300" dirty="0"/>
          </a:p>
          <a:p>
            <a:pPr indent="0" marL="0">
              <a:buNone/>
            </a:pPr>
            <a:r>
              <a:rPr lang="en-US" sz="1300" dirty="0">
                <a:solidFill>
                  <a:srgbClr val="9AA6B8"/>
                </a:solidFill>
                <a:latin typeface="Calibri" pitchFamily="34" charset="0"/>
                <a:ea typeface="Calibri" pitchFamily="34" charset="-122"/>
                <a:cs typeface="Calibri" pitchFamily="34" charset="-120"/>
              </a:rPr>
              <a:t>engineering tactics attackers use to manipulate employees.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411480"/>
            <a:ext cx="8229600" cy="640080"/>
          </a:xfrm>
          <a:prstGeom prst="rect">
            <a:avLst/>
          </a:prstGeom>
          <a:noFill/>
          <a:ln/>
        </p:spPr>
        <p:txBody>
          <a:bodyPr wrap="square" lIns="0" tIns="0" rIns="0" bIns="0"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Why This Matters</a:t>
            </a:r>
            <a:endParaRPr lang="en-US" sz="3200" dirty="0"/>
          </a:p>
        </p:txBody>
      </p:sp>
      <p:sp>
        <p:nvSpPr>
          <p:cNvPr id="3" name="Text 1"/>
          <p:cNvSpPr/>
          <p:nvPr/>
        </p:nvSpPr>
        <p:spPr>
          <a:xfrm>
            <a:off x="548640" y="960120"/>
            <a:ext cx="9601200" cy="457200"/>
          </a:xfrm>
          <a:prstGeom prst="rect">
            <a:avLst/>
          </a:prstGeom>
          <a:noFill/>
          <a:ln/>
        </p:spPr>
        <p:txBody>
          <a:bodyPr wrap="square" lIns="0" tIns="0" rIns="0" bIns="0" rtlCol="0" anchor="ctr"/>
          <a:lstStyle/>
          <a:p>
            <a:pPr indent="0" marL="0">
              <a:buNone/>
            </a:pPr>
            <a:r>
              <a:rPr lang="en-US" sz="1400" dirty="0">
                <a:solidFill>
                  <a:srgbClr val="6B7686"/>
                </a:solidFill>
                <a:latin typeface="Calibri" pitchFamily="34" charset="0"/>
                <a:ea typeface="Calibri" pitchFamily="34" charset="-122"/>
                <a:cs typeface="Calibri" pitchFamily="34" charset="-120"/>
              </a:rPr>
              <a:t>Phishing is the leading entry point for real breaches — the numbers show why speed and instinct matter.</a:t>
            </a:r>
            <a:endParaRPr lang="en-US" sz="1400" dirty="0"/>
          </a:p>
        </p:txBody>
      </p:sp>
      <p:sp>
        <p:nvSpPr>
          <p:cNvPr id="4" name="Shape 2"/>
          <p:cNvSpPr/>
          <p:nvPr/>
        </p:nvSpPr>
        <p:spPr>
          <a:xfrm>
            <a:off x="548640" y="1691640"/>
            <a:ext cx="2606040" cy="2331720"/>
          </a:xfrm>
          <a:prstGeom prst="roundRect">
            <a:avLst>
              <a:gd name="adj" fmla="val 3137"/>
            </a:avLst>
          </a:prstGeom>
          <a:solidFill>
            <a:srgbClr val="FFFFF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920240"/>
            <a:ext cx="2331720" cy="777240"/>
          </a:xfrm>
          <a:prstGeom prst="rect">
            <a:avLst/>
          </a:prstGeom>
          <a:noFill/>
          <a:ln/>
        </p:spPr>
        <p:txBody>
          <a:bodyPr wrap="square" lIns="0" tIns="0" rIns="0" bIns="0" rtlCol="0" anchor="ctr"/>
          <a:lstStyle/>
          <a:p>
            <a:pPr algn="l" indent="0" marL="0">
              <a:buNone/>
            </a:pPr>
            <a:r>
              <a:rPr lang="en-US" sz="4000" b="1" dirty="0">
                <a:solidFill>
                  <a:srgbClr val="D7263D"/>
                </a:solidFill>
                <a:latin typeface="Cambria" pitchFamily="34" charset="0"/>
                <a:ea typeface="Cambria" pitchFamily="34" charset="-122"/>
                <a:cs typeface="Cambria" pitchFamily="34" charset="-120"/>
              </a:rPr>
              <a:t>16%</a:t>
            </a:r>
            <a:endParaRPr lang="en-US" sz="4000" dirty="0"/>
          </a:p>
        </p:txBody>
      </p:sp>
      <p:sp>
        <p:nvSpPr>
          <p:cNvPr id="6" name="Text 4"/>
          <p:cNvSpPr/>
          <p:nvPr/>
        </p:nvSpPr>
        <p:spPr>
          <a:xfrm>
            <a:off x="685800" y="2743200"/>
            <a:ext cx="2331720" cy="960120"/>
          </a:xfrm>
          <a:prstGeom prst="rect">
            <a:avLst/>
          </a:prstGeom>
          <a:noFill/>
          <a:ln/>
        </p:spPr>
        <p:txBody>
          <a:bodyPr wrap="square" lIns="0" tIns="0" rIns="0" bIns="0" rtlCol="0" anchor="ctr"/>
          <a:lstStyle/>
          <a:p>
            <a:pPr algn="l" indent="0" marL="0">
              <a:buNone/>
            </a:pPr>
            <a:r>
              <a:rPr lang="en-US" sz="1250" dirty="0">
                <a:solidFill>
                  <a:srgbClr val="1B2430"/>
                </a:solidFill>
                <a:latin typeface="Calibri" pitchFamily="34" charset="0"/>
                <a:ea typeface="Calibri" pitchFamily="34" charset="-122"/>
                <a:cs typeface="Calibri" pitchFamily="34" charset="-120"/>
              </a:rPr>
              <a:t>of confirmed data breaches start with a phishing email</a:t>
            </a:r>
            <a:endParaRPr lang="en-US" sz="1250" dirty="0"/>
          </a:p>
        </p:txBody>
      </p:sp>
      <p:sp>
        <p:nvSpPr>
          <p:cNvPr id="7" name="Text 5"/>
          <p:cNvSpPr/>
          <p:nvPr/>
        </p:nvSpPr>
        <p:spPr>
          <a:xfrm>
            <a:off x="685800" y="3657600"/>
            <a:ext cx="2331720" cy="274320"/>
          </a:xfrm>
          <a:prstGeom prst="rect">
            <a:avLst/>
          </a:prstGeom>
          <a:noFill/>
          <a:ln/>
        </p:spPr>
        <p:txBody>
          <a:bodyPr wrap="square" lIns="0" tIns="0" rIns="0" bIns="0" rtlCol="0" anchor="ctr"/>
          <a:lstStyle/>
          <a:p>
            <a:pPr algn="l" indent="0" marL="0">
              <a:buNone/>
            </a:pPr>
            <a:r>
              <a:rPr lang="en-US" sz="900" i="1" dirty="0">
                <a:solidFill>
                  <a:srgbClr val="6B7686"/>
                </a:solidFill>
                <a:latin typeface="Calibri" pitchFamily="34" charset="0"/>
                <a:ea typeface="Calibri" pitchFamily="34" charset="-122"/>
                <a:cs typeface="Calibri" pitchFamily="34" charset="-120"/>
              </a:rPr>
              <a:t>Verizon 2025 DBIR</a:t>
            </a:r>
            <a:endParaRPr lang="en-US" sz="900" dirty="0"/>
          </a:p>
        </p:txBody>
      </p:sp>
      <p:sp>
        <p:nvSpPr>
          <p:cNvPr id="8" name="Shape 6"/>
          <p:cNvSpPr/>
          <p:nvPr/>
        </p:nvSpPr>
        <p:spPr>
          <a:xfrm>
            <a:off x="3429000" y="1691640"/>
            <a:ext cx="2606040" cy="2331720"/>
          </a:xfrm>
          <a:prstGeom prst="roundRect">
            <a:avLst>
              <a:gd name="adj" fmla="val 3137"/>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3566160" y="1920240"/>
            <a:ext cx="2331720" cy="777240"/>
          </a:xfrm>
          <a:prstGeom prst="rect">
            <a:avLst/>
          </a:prstGeom>
          <a:noFill/>
          <a:ln/>
        </p:spPr>
        <p:txBody>
          <a:bodyPr wrap="square" lIns="0" tIns="0" rIns="0" bIns="0" rtlCol="0" anchor="ctr"/>
          <a:lstStyle/>
          <a:p>
            <a:pPr algn="l" indent="0" marL="0">
              <a:buNone/>
            </a:pPr>
            <a:r>
              <a:rPr lang="en-US" sz="4000" b="1" dirty="0">
                <a:solidFill>
                  <a:srgbClr val="D7263D"/>
                </a:solidFill>
                <a:latin typeface="Cambria" pitchFamily="34" charset="0"/>
                <a:ea typeface="Cambria" pitchFamily="34" charset="-122"/>
                <a:cs typeface="Cambria" pitchFamily="34" charset="-120"/>
              </a:rPr>
              <a:t>$4.8M</a:t>
            </a:r>
            <a:endParaRPr lang="en-US" sz="4000" dirty="0"/>
          </a:p>
        </p:txBody>
      </p:sp>
      <p:sp>
        <p:nvSpPr>
          <p:cNvPr id="10" name="Text 8"/>
          <p:cNvSpPr/>
          <p:nvPr/>
        </p:nvSpPr>
        <p:spPr>
          <a:xfrm>
            <a:off x="3566160" y="2743200"/>
            <a:ext cx="2331720" cy="960120"/>
          </a:xfrm>
          <a:prstGeom prst="rect">
            <a:avLst/>
          </a:prstGeom>
          <a:noFill/>
          <a:ln/>
        </p:spPr>
        <p:txBody>
          <a:bodyPr wrap="square" lIns="0" tIns="0" rIns="0" bIns="0" rtlCol="0" anchor="ctr"/>
          <a:lstStyle/>
          <a:p>
            <a:pPr algn="l" indent="0" marL="0">
              <a:buNone/>
            </a:pPr>
            <a:r>
              <a:rPr lang="en-US" sz="1250" dirty="0">
                <a:solidFill>
                  <a:srgbClr val="1B2430"/>
                </a:solidFill>
                <a:latin typeface="Calibri" pitchFamily="34" charset="0"/>
                <a:ea typeface="Calibri" pitchFamily="34" charset="-122"/>
                <a:cs typeface="Calibri" pitchFamily="34" charset="-120"/>
              </a:rPr>
              <a:t>average cost of a breach that begins with phishing</a:t>
            </a:r>
            <a:endParaRPr lang="en-US" sz="1250" dirty="0"/>
          </a:p>
        </p:txBody>
      </p:sp>
      <p:sp>
        <p:nvSpPr>
          <p:cNvPr id="11" name="Text 9"/>
          <p:cNvSpPr/>
          <p:nvPr/>
        </p:nvSpPr>
        <p:spPr>
          <a:xfrm>
            <a:off x="3566160" y="3657600"/>
            <a:ext cx="2331720" cy="274320"/>
          </a:xfrm>
          <a:prstGeom prst="rect">
            <a:avLst/>
          </a:prstGeom>
          <a:noFill/>
          <a:ln/>
        </p:spPr>
        <p:txBody>
          <a:bodyPr wrap="square" lIns="0" tIns="0" rIns="0" bIns="0" rtlCol="0" anchor="ctr"/>
          <a:lstStyle/>
          <a:p>
            <a:pPr algn="l" indent="0" marL="0">
              <a:buNone/>
            </a:pPr>
            <a:r>
              <a:rPr lang="en-US" sz="900" i="1" dirty="0">
                <a:solidFill>
                  <a:srgbClr val="6B7686"/>
                </a:solidFill>
                <a:latin typeface="Calibri" pitchFamily="34" charset="0"/>
                <a:ea typeface="Calibri" pitchFamily="34" charset="-122"/>
                <a:cs typeface="Calibri" pitchFamily="34" charset="-120"/>
              </a:rPr>
              <a:t>IBM Cost of a Data Breach 2025</a:t>
            </a:r>
            <a:endParaRPr lang="en-US" sz="900" dirty="0"/>
          </a:p>
        </p:txBody>
      </p:sp>
      <p:sp>
        <p:nvSpPr>
          <p:cNvPr id="12" name="Shape 10"/>
          <p:cNvSpPr/>
          <p:nvPr/>
        </p:nvSpPr>
        <p:spPr>
          <a:xfrm>
            <a:off x="6309360" y="1691640"/>
            <a:ext cx="2606040" cy="2331720"/>
          </a:xfrm>
          <a:prstGeom prst="roundRect">
            <a:avLst>
              <a:gd name="adj" fmla="val 3137"/>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6446520" y="1920240"/>
            <a:ext cx="2331720" cy="777240"/>
          </a:xfrm>
          <a:prstGeom prst="rect">
            <a:avLst/>
          </a:prstGeom>
          <a:noFill/>
          <a:ln/>
        </p:spPr>
        <p:txBody>
          <a:bodyPr wrap="square" lIns="0" tIns="0" rIns="0" bIns="0" rtlCol="0" anchor="ctr"/>
          <a:lstStyle/>
          <a:p>
            <a:pPr algn="l" indent="0" marL="0">
              <a:buNone/>
            </a:pPr>
            <a:r>
              <a:rPr lang="en-US" sz="4000" b="1" dirty="0">
                <a:solidFill>
                  <a:srgbClr val="D7263D"/>
                </a:solidFill>
                <a:latin typeface="Cambria" pitchFamily="34" charset="0"/>
                <a:ea typeface="Cambria" pitchFamily="34" charset="-122"/>
                <a:cs typeface="Cambria" pitchFamily="34" charset="-120"/>
              </a:rPr>
              <a:t>21 sec</a:t>
            </a:r>
            <a:endParaRPr lang="en-US" sz="4000" dirty="0"/>
          </a:p>
        </p:txBody>
      </p:sp>
      <p:sp>
        <p:nvSpPr>
          <p:cNvPr id="14" name="Text 12"/>
          <p:cNvSpPr/>
          <p:nvPr/>
        </p:nvSpPr>
        <p:spPr>
          <a:xfrm>
            <a:off x="6446520" y="2743200"/>
            <a:ext cx="2331720" cy="960120"/>
          </a:xfrm>
          <a:prstGeom prst="rect">
            <a:avLst/>
          </a:prstGeom>
          <a:noFill/>
          <a:ln/>
        </p:spPr>
        <p:txBody>
          <a:bodyPr wrap="square" lIns="0" tIns="0" rIns="0" bIns="0" rtlCol="0" anchor="ctr"/>
          <a:lstStyle/>
          <a:p>
            <a:pPr algn="l" indent="0" marL="0">
              <a:buNone/>
            </a:pPr>
            <a:r>
              <a:rPr lang="en-US" sz="1250" dirty="0">
                <a:solidFill>
                  <a:srgbClr val="1B2430"/>
                </a:solidFill>
                <a:latin typeface="Calibri" pitchFamily="34" charset="0"/>
                <a:ea typeface="Calibri" pitchFamily="34" charset="-122"/>
                <a:cs typeface="Calibri" pitchFamily="34" charset="-120"/>
              </a:rPr>
              <a:t>median time from a phishing email landing to the first click</a:t>
            </a:r>
            <a:endParaRPr lang="en-US" sz="1250" dirty="0"/>
          </a:p>
        </p:txBody>
      </p:sp>
      <p:sp>
        <p:nvSpPr>
          <p:cNvPr id="15" name="Text 13"/>
          <p:cNvSpPr/>
          <p:nvPr/>
        </p:nvSpPr>
        <p:spPr>
          <a:xfrm>
            <a:off x="6446520" y="3657600"/>
            <a:ext cx="2331720" cy="274320"/>
          </a:xfrm>
          <a:prstGeom prst="rect">
            <a:avLst/>
          </a:prstGeom>
          <a:noFill/>
          <a:ln/>
        </p:spPr>
        <p:txBody>
          <a:bodyPr wrap="square" lIns="0" tIns="0" rIns="0" bIns="0" rtlCol="0" anchor="ctr"/>
          <a:lstStyle/>
          <a:p>
            <a:pPr algn="l" indent="0" marL="0">
              <a:buNone/>
            </a:pPr>
            <a:r>
              <a:rPr lang="en-US" sz="900" i="1" dirty="0">
                <a:solidFill>
                  <a:srgbClr val="6B7686"/>
                </a:solidFill>
                <a:latin typeface="Calibri" pitchFamily="34" charset="0"/>
                <a:ea typeface="Calibri" pitchFamily="34" charset="-122"/>
                <a:cs typeface="Calibri" pitchFamily="34" charset="-120"/>
              </a:rPr>
              <a:t>Verizon 2025 DBIR</a:t>
            </a:r>
            <a:endParaRPr lang="en-US" sz="900" dirty="0"/>
          </a:p>
        </p:txBody>
      </p:sp>
      <p:sp>
        <p:nvSpPr>
          <p:cNvPr id="16" name="Shape 14"/>
          <p:cNvSpPr/>
          <p:nvPr/>
        </p:nvSpPr>
        <p:spPr>
          <a:xfrm>
            <a:off x="9189720" y="1691640"/>
            <a:ext cx="2606040" cy="2331720"/>
          </a:xfrm>
          <a:prstGeom prst="roundRect">
            <a:avLst>
              <a:gd name="adj" fmla="val 3137"/>
            </a:avLst>
          </a:prstGeom>
          <a:solidFill>
            <a:srgbClr val="FFFFFF"/>
          </a:solidFill>
          <a:ln/>
          <a:effectLst>
            <a:outerShdw sx="100000" sy="100000" kx="0" ky="0" algn="bl" rotWithShape="0" blurRad="101600" dist="38100" dir="2700000">
              <a:srgbClr val="000000">
                <a:alpha val="12000"/>
              </a:srgbClr>
            </a:outerShdw>
          </a:effectLst>
        </p:spPr>
      </p:sp>
      <p:sp>
        <p:nvSpPr>
          <p:cNvPr id="17" name="Text 15"/>
          <p:cNvSpPr/>
          <p:nvPr/>
        </p:nvSpPr>
        <p:spPr>
          <a:xfrm>
            <a:off x="9326880" y="1920240"/>
            <a:ext cx="2331720" cy="777240"/>
          </a:xfrm>
          <a:prstGeom prst="rect">
            <a:avLst/>
          </a:prstGeom>
          <a:noFill/>
          <a:ln/>
        </p:spPr>
        <p:txBody>
          <a:bodyPr wrap="square" lIns="0" tIns="0" rIns="0" bIns="0" rtlCol="0" anchor="ctr"/>
          <a:lstStyle/>
          <a:p>
            <a:pPr algn="l" indent="0" marL="0">
              <a:buNone/>
            </a:pPr>
            <a:r>
              <a:rPr lang="en-US" sz="4000" b="1" dirty="0">
                <a:solidFill>
                  <a:srgbClr val="D7263D"/>
                </a:solidFill>
                <a:latin typeface="Cambria" pitchFamily="34" charset="0"/>
                <a:ea typeface="Cambria" pitchFamily="34" charset="-122"/>
                <a:cs typeface="Cambria" pitchFamily="34" charset="-120"/>
              </a:rPr>
              <a:t>54%</a:t>
            </a:r>
            <a:endParaRPr lang="en-US" sz="4000" dirty="0"/>
          </a:p>
        </p:txBody>
      </p:sp>
      <p:sp>
        <p:nvSpPr>
          <p:cNvPr id="18" name="Text 16"/>
          <p:cNvSpPr/>
          <p:nvPr/>
        </p:nvSpPr>
        <p:spPr>
          <a:xfrm>
            <a:off x="9326880" y="2743200"/>
            <a:ext cx="2331720" cy="960120"/>
          </a:xfrm>
          <a:prstGeom prst="rect">
            <a:avLst/>
          </a:prstGeom>
          <a:noFill/>
          <a:ln/>
        </p:spPr>
        <p:txBody>
          <a:bodyPr wrap="square" lIns="0" tIns="0" rIns="0" bIns="0" rtlCol="0" anchor="ctr"/>
          <a:lstStyle/>
          <a:p>
            <a:pPr algn="l" indent="0" marL="0">
              <a:buNone/>
            </a:pPr>
            <a:r>
              <a:rPr lang="en-US" sz="1250" dirty="0">
                <a:solidFill>
                  <a:srgbClr val="1B2430"/>
                </a:solidFill>
                <a:latin typeface="Calibri" pitchFamily="34" charset="0"/>
                <a:ea typeface="Calibri" pitchFamily="34" charset="-122"/>
                <a:cs typeface="Calibri" pitchFamily="34" charset="-120"/>
              </a:rPr>
              <a:t>click rate on AI-generated phishing lures, vs. 12% for traditional ones</a:t>
            </a:r>
            <a:endParaRPr lang="en-US" sz="1250" dirty="0"/>
          </a:p>
        </p:txBody>
      </p:sp>
      <p:sp>
        <p:nvSpPr>
          <p:cNvPr id="19" name="Text 17"/>
          <p:cNvSpPr/>
          <p:nvPr/>
        </p:nvSpPr>
        <p:spPr>
          <a:xfrm>
            <a:off x="9326880" y="3657600"/>
            <a:ext cx="2331720" cy="274320"/>
          </a:xfrm>
          <a:prstGeom prst="rect">
            <a:avLst/>
          </a:prstGeom>
          <a:noFill/>
          <a:ln/>
        </p:spPr>
        <p:txBody>
          <a:bodyPr wrap="square" lIns="0" tIns="0" rIns="0" bIns="0" rtlCol="0" anchor="ctr"/>
          <a:lstStyle/>
          <a:p>
            <a:pPr algn="l" indent="0" marL="0">
              <a:buNone/>
            </a:pPr>
            <a:r>
              <a:rPr lang="en-US" sz="900" i="1" dirty="0">
                <a:solidFill>
                  <a:srgbClr val="6B7686"/>
                </a:solidFill>
                <a:latin typeface="Calibri" pitchFamily="34" charset="0"/>
                <a:ea typeface="Calibri" pitchFamily="34" charset="-122"/>
                <a:cs typeface="Calibri" pitchFamily="34" charset="-120"/>
              </a:rPr>
              <a:t>Microsoft Digital Defense 2025</a:t>
            </a:r>
            <a:endParaRPr lang="en-US" sz="900" dirty="0"/>
          </a:p>
        </p:txBody>
      </p:sp>
      <p:sp>
        <p:nvSpPr>
          <p:cNvPr id="20" name="Shape 18"/>
          <p:cNvSpPr/>
          <p:nvPr/>
        </p:nvSpPr>
        <p:spPr>
          <a:xfrm>
            <a:off x="548640" y="4343400"/>
            <a:ext cx="11064240" cy="1600200"/>
          </a:xfrm>
          <a:prstGeom prst="roundRect">
            <a:avLst>
              <a:gd name="adj" fmla="val 4571"/>
            </a:avLst>
          </a:prstGeom>
          <a:solidFill>
            <a:srgbClr val="14213D"/>
          </a:solidFill>
          <a:ln/>
          <a:effectLst>
            <a:outerShdw sx="100000" sy="100000" kx="0" ky="0" algn="bl" rotWithShape="0" blurRad="101600" dist="38100" dir="2700000">
              <a:srgbClr val="000000">
                <a:alpha val="12000"/>
              </a:srgbClr>
            </a:outerShdw>
          </a:effectLst>
        </p:spPr>
      </p:sp>
      <p:pic>
        <p:nvPicPr>
          <p:cNvPr id="21" name="Image 0" descr="preencoded.png">    </p:cNvPr>
          <p:cNvPicPr>
            <a:picLocks noChangeAspect="1"/>
          </p:cNvPicPr>
          <p:nvPr/>
        </p:nvPicPr>
        <p:blipFill>
          <a:blip r:embed="rId1"/>
          <a:stretch>
            <a:fillRect/>
          </a:stretch>
        </p:blipFill>
        <p:spPr>
          <a:xfrm>
            <a:off x="868680" y="4754880"/>
            <a:ext cx="685800" cy="685800"/>
          </a:xfrm>
          <a:prstGeom prst="rect">
            <a:avLst/>
          </a:prstGeom>
        </p:spPr>
      </p:pic>
      <p:sp>
        <p:nvSpPr>
          <p:cNvPr id="22" name="Text 19"/>
          <p:cNvSpPr/>
          <p:nvPr/>
        </p:nvSpPr>
        <p:spPr>
          <a:xfrm>
            <a:off x="1737360" y="4709160"/>
            <a:ext cx="9601200" cy="11887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good news: training works. </a:t>
            </a:r>
            <a:endParaRPr lang="en-US" sz="1300" dirty="0"/>
          </a:p>
          <a:p>
            <a:pPr indent="0" marL="0">
              <a:buNone/>
            </a:pPr>
            <a:r>
              <a:rPr lang="en-US" sz="1300" dirty="0">
                <a:solidFill>
                  <a:srgbClr val="C7D0DE"/>
                </a:solidFill>
                <a:latin typeface="Calibri" pitchFamily="34" charset="0"/>
                <a:ea typeface="Calibri" pitchFamily="34" charset="-122"/>
                <a:cs typeface="Calibri" pitchFamily="34" charset="-120"/>
              </a:rPr>
              <a:t>Structured awareness training drops simulated phishing click rates from 33.1% to 4.1% within 12 months — an 86% reduction (KnowBe4 2025). That's the entire point of today.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Anatomy of a Phishing Email</a:t>
            </a:r>
            <a:endParaRPr lang="en-US" sz="3000" dirty="0"/>
          </a:p>
        </p:txBody>
      </p:sp>
      <p:sp>
        <p:nvSpPr>
          <p:cNvPr id="3" name="Text 1"/>
          <p:cNvSpPr/>
          <p:nvPr/>
        </p:nvSpPr>
        <p:spPr>
          <a:xfrm>
            <a:off x="548640" y="914400"/>
            <a:ext cx="9144000" cy="365760"/>
          </a:xfrm>
          <a:prstGeom prst="rect">
            <a:avLst/>
          </a:prstGeom>
          <a:noFill/>
          <a:ln/>
        </p:spPr>
        <p:txBody>
          <a:bodyPr wrap="square" lIns="0" tIns="0" rIns="0" bIns="0" rtlCol="0" anchor="ctr"/>
          <a:lstStyle/>
          <a:p>
            <a:pPr indent="0" marL="0">
              <a:buNone/>
            </a:pPr>
            <a:r>
              <a:rPr lang="en-US" sz="1300" dirty="0">
                <a:solidFill>
                  <a:srgbClr val="6B7686"/>
                </a:solidFill>
                <a:latin typeface="Calibri" pitchFamily="34" charset="0"/>
                <a:ea typeface="Calibri" pitchFamily="34" charset="-122"/>
                <a:cs typeface="Calibri" pitchFamily="34" charset="-120"/>
              </a:rPr>
              <a:t>Five red flags — check for these every time, not just when something feels off.</a:t>
            </a:r>
            <a:endParaRPr lang="en-US" sz="1300" dirty="0"/>
          </a:p>
        </p:txBody>
      </p:sp>
      <p:sp>
        <p:nvSpPr>
          <p:cNvPr id="4" name="Shape 2"/>
          <p:cNvSpPr/>
          <p:nvPr/>
        </p:nvSpPr>
        <p:spPr>
          <a:xfrm>
            <a:off x="548640" y="1508760"/>
            <a:ext cx="2084832" cy="3246120"/>
          </a:xfrm>
          <a:prstGeom prst="roundRect">
            <a:avLst>
              <a:gd name="adj" fmla="val 3509"/>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1271016" y="1764792"/>
            <a:ext cx="640080" cy="640080"/>
          </a:xfrm>
          <a:prstGeom prst="ellipse">
            <a:avLst/>
          </a:prstGeom>
          <a:solidFill>
            <a:srgbClr val="FDEBEC"/>
          </a:solidFill>
          <a:ln/>
        </p:spPr>
      </p:sp>
      <p:pic>
        <p:nvPicPr>
          <p:cNvPr id="6" name="Image 0" descr="preencoded.png">    </p:cNvPr>
          <p:cNvPicPr>
            <a:picLocks noChangeAspect="1"/>
          </p:cNvPicPr>
          <p:nvPr/>
        </p:nvPicPr>
        <p:blipFill>
          <a:blip r:embed="rId1"/>
          <a:stretch>
            <a:fillRect/>
          </a:stretch>
        </p:blipFill>
        <p:spPr>
          <a:xfrm>
            <a:off x="1408176" y="1901952"/>
            <a:ext cx="365760" cy="365760"/>
          </a:xfrm>
          <a:prstGeom prst="rect">
            <a:avLst/>
          </a:prstGeom>
        </p:spPr>
      </p:pic>
      <p:sp>
        <p:nvSpPr>
          <p:cNvPr id="7" name="Text 4"/>
          <p:cNvSpPr/>
          <p:nvPr/>
        </p:nvSpPr>
        <p:spPr>
          <a:xfrm>
            <a:off x="667512" y="2560320"/>
            <a:ext cx="1847088" cy="502920"/>
          </a:xfrm>
          <a:prstGeom prst="rect">
            <a:avLst/>
          </a:prstGeom>
          <a:noFill/>
          <a:ln/>
        </p:spPr>
        <p:txBody>
          <a:bodyPr wrap="square" lIns="0" tIns="0" rIns="0" bIns="0" rtlCol="0" anchor="ctr"/>
          <a:lstStyle/>
          <a:p>
            <a:pPr algn="ctr" indent="0" marL="0">
              <a:buNone/>
            </a:pPr>
            <a:r>
              <a:rPr lang="en-US" sz="1350" b="1" dirty="0">
                <a:solidFill>
                  <a:srgbClr val="1B2430"/>
                </a:solidFill>
                <a:latin typeface="Calibri" pitchFamily="34" charset="0"/>
                <a:ea typeface="Calibri" pitchFamily="34" charset="-122"/>
                <a:cs typeface="Calibri" pitchFamily="34" charset="-120"/>
              </a:rPr>
              <a:t>Sender spoofing</a:t>
            </a:r>
            <a:endParaRPr lang="en-US" sz="1350" dirty="0"/>
          </a:p>
        </p:txBody>
      </p:sp>
      <p:sp>
        <p:nvSpPr>
          <p:cNvPr id="8" name="Text 5"/>
          <p:cNvSpPr/>
          <p:nvPr/>
        </p:nvSpPr>
        <p:spPr>
          <a:xfrm>
            <a:off x="685800" y="3044952"/>
            <a:ext cx="1810512" cy="1554480"/>
          </a:xfrm>
          <a:prstGeom prst="rect">
            <a:avLst/>
          </a:prstGeom>
          <a:noFill/>
          <a:ln/>
        </p:spPr>
        <p:txBody>
          <a:bodyPr wrap="square" lIns="0" tIns="0" rIns="0" bIns="0" rtlCol="0" anchor="ctr"/>
          <a:lstStyle/>
          <a:p>
            <a:pPr algn="ctr" indent="0" marL="0">
              <a:buNone/>
            </a:pPr>
            <a:r>
              <a:rPr lang="en-US" sz="1000" dirty="0">
                <a:solidFill>
                  <a:srgbClr val="6B7686"/>
                </a:solidFill>
                <a:latin typeface="Calibri" pitchFamily="34" charset="0"/>
                <a:ea typeface="Calibri" pitchFamily="34" charset="-122"/>
                <a:cs typeface="Calibri" pitchFamily="34" charset="-120"/>
              </a:rPr>
              <a:t>Display name looks right, but the actual address is a lookalike domain or a free-mail account (e.g. "IT Support" &lt;it-helpdesk@secure-corp-mail.com&gt;).</a:t>
            </a:r>
            <a:endParaRPr lang="en-US" sz="1000" dirty="0"/>
          </a:p>
        </p:txBody>
      </p:sp>
      <p:sp>
        <p:nvSpPr>
          <p:cNvPr id="9" name="Shape 6"/>
          <p:cNvSpPr/>
          <p:nvPr/>
        </p:nvSpPr>
        <p:spPr>
          <a:xfrm>
            <a:off x="2779776" y="1508760"/>
            <a:ext cx="2084832" cy="3246120"/>
          </a:xfrm>
          <a:prstGeom prst="roundRect">
            <a:avLst>
              <a:gd name="adj" fmla="val 3509"/>
            </a:avLst>
          </a:prstGeom>
          <a:solidFill>
            <a:srgbClr val="FFFFFF"/>
          </a:solidFill>
          <a:ln/>
          <a:effectLst>
            <a:outerShdw sx="100000" sy="100000" kx="0" ky="0" algn="bl" rotWithShape="0" blurRad="101600" dist="38100" dir="2700000">
              <a:srgbClr val="000000">
                <a:alpha val="12000"/>
              </a:srgbClr>
            </a:outerShdw>
          </a:effectLst>
        </p:spPr>
      </p:sp>
      <p:sp>
        <p:nvSpPr>
          <p:cNvPr id="10" name="Shape 7"/>
          <p:cNvSpPr/>
          <p:nvPr/>
        </p:nvSpPr>
        <p:spPr>
          <a:xfrm>
            <a:off x="3502152" y="1764792"/>
            <a:ext cx="640080" cy="640080"/>
          </a:xfrm>
          <a:prstGeom prst="ellipse">
            <a:avLst/>
          </a:prstGeom>
          <a:solidFill>
            <a:srgbClr val="FDEBEC"/>
          </a:solidFill>
          <a:ln/>
        </p:spPr>
      </p:sp>
      <p:pic>
        <p:nvPicPr>
          <p:cNvPr id="11" name="Image 1" descr="preencoded.png">    </p:cNvPr>
          <p:cNvPicPr>
            <a:picLocks noChangeAspect="1"/>
          </p:cNvPicPr>
          <p:nvPr/>
        </p:nvPicPr>
        <p:blipFill>
          <a:blip r:embed="rId2"/>
          <a:stretch>
            <a:fillRect/>
          </a:stretch>
        </p:blipFill>
        <p:spPr>
          <a:xfrm>
            <a:off x="3639312" y="1901952"/>
            <a:ext cx="365760" cy="365760"/>
          </a:xfrm>
          <a:prstGeom prst="rect">
            <a:avLst/>
          </a:prstGeom>
        </p:spPr>
      </p:pic>
      <p:sp>
        <p:nvSpPr>
          <p:cNvPr id="12" name="Text 8"/>
          <p:cNvSpPr/>
          <p:nvPr/>
        </p:nvSpPr>
        <p:spPr>
          <a:xfrm>
            <a:off x="2898648" y="2560320"/>
            <a:ext cx="1847088" cy="502920"/>
          </a:xfrm>
          <a:prstGeom prst="rect">
            <a:avLst/>
          </a:prstGeom>
          <a:noFill/>
          <a:ln/>
        </p:spPr>
        <p:txBody>
          <a:bodyPr wrap="square" lIns="0" tIns="0" rIns="0" bIns="0" rtlCol="0" anchor="ctr"/>
          <a:lstStyle/>
          <a:p>
            <a:pPr algn="ctr" indent="0" marL="0">
              <a:buNone/>
            </a:pPr>
            <a:r>
              <a:rPr lang="en-US" sz="1350" b="1" dirty="0">
                <a:solidFill>
                  <a:srgbClr val="1B2430"/>
                </a:solidFill>
                <a:latin typeface="Calibri" pitchFamily="34" charset="0"/>
                <a:ea typeface="Calibri" pitchFamily="34" charset="-122"/>
                <a:cs typeface="Calibri" pitchFamily="34" charset="-120"/>
              </a:rPr>
              <a:t>Manufactured urgency</a:t>
            </a:r>
            <a:endParaRPr lang="en-US" sz="1350" dirty="0"/>
          </a:p>
        </p:txBody>
      </p:sp>
      <p:sp>
        <p:nvSpPr>
          <p:cNvPr id="13" name="Text 9"/>
          <p:cNvSpPr/>
          <p:nvPr/>
        </p:nvSpPr>
        <p:spPr>
          <a:xfrm>
            <a:off x="2916936" y="3044952"/>
            <a:ext cx="1810512" cy="1554480"/>
          </a:xfrm>
          <a:prstGeom prst="rect">
            <a:avLst/>
          </a:prstGeom>
          <a:noFill/>
          <a:ln/>
        </p:spPr>
        <p:txBody>
          <a:bodyPr wrap="square" lIns="0" tIns="0" rIns="0" bIns="0" rtlCol="0" anchor="ctr"/>
          <a:lstStyle/>
          <a:p>
            <a:pPr algn="ctr" indent="0" marL="0">
              <a:buNone/>
            </a:pPr>
            <a:r>
              <a:rPr lang="en-US" sz="1000" dirty="0">
                <a:solidFill>
                  <a:srgbClr val="6B7686"/>
                </a:solidFill>
                <a:latin typeface="Calibri" pitchFamily="34" charset="0"/>
                <a:ea typeface="Calibri" pitchFamily="34" charset="-122"/>
                <a:cs typeface="Calibri" pitchFamily="34" charset="-120"/>
              </a:rPr>
              <a:t>"Act now," "account will be suspended," "final notice." Pressure is designed to short-circuit careful thinking.</a:t>
            </a:r>
            <a:endParaRPr lang="en-US" sz="1000" dirty="0"/>
          </a:p>
        </p:txBody>
      </p:sp>
      <p:sp>
        <p:nvSpPr>
          <p:cNvPr id="14" name="Shape 10"/>
          <p:cNvSpPr/>
          <p:nvPr/>
        </p:nvSpPr>
        <p:spPr>
          <a:xfrm>
            <a:off x="5010912" y="1508760"/>
            <a:ext cx="2084832" cy="3246120"/>
          </a:xfrm>
          <a:prstGeom prst="roundRect">
            <a:avLst>
              <a:gd name="adj" fmla="val 3509"/>
            </a:avLst>
          </a:prstGeom>
          <a:solidFill>
            <a:srgbClr val="FFFFFF"/>
          </a:solidFill>
          <a:ln/>
          <a:effectLst>
            <a:outerShdw sx="100000" sy="100000" kx="0" ky="0" algn="bl" rotWithShape="0" blurRad="101600" dist="38100" dir="2700000">
              <a:srgbClr val="000000">
                <a:alpha val="12000"/>
              </a:srgbClr>
            </a:outerShdw>
          </a:effectLst>
        </p:spPr>
      </p:sp>
      <p:sp>
        <p:nvSpPr>
          <p:cNvPr id="15" name="Shape 11"/>
          <p:cNvSpPr/>
          <p:nvPr/>
        </p:nvSpPr>
        <p:spPr>
          <a:xfrm>
            <a:off x="5733288" y="1764792"/>
            <a:ext cx="640080" cy="640080"/>
          </a:xfrm>
          <a:prstGeom prst="ellipse">
            <a:avLst/>
          </a:prstGeom>
          <a:solidFill>
            <a:srgbClr val="FDEBEC"/>
          </a:solidFill>
          <a:ln/>
        </p:spPr>
      </p:sp>
      <p:pic>
        <p:nvPicPr>
          <p:cNvPr id="16" name="Image 2" descr="preencoded.png">    </p:cNvPr>
          <p:cNvPicPr>
            <a:picLocks noChangeAspect="1"/>
          </p:cNvPicPr>
          <p:nvPr/>
        </p:nvPicPr>
        <p:blipFill>
          <a:blip r:embed="rId3"/>
          <a:stretch>
            <a:fillRect/>
          </a:stretch>
        </p:blipFill>
        <p:spPr>
          <a:xfrm>
            <a:off x="5870448" y="1901952"/>
            <a:ext cx="365760" cy="365760"/>
          </a:xfrm>
          <a:prstGeom prst="rect">
            <a:avLst/>
          </a:prstGeom>
        </p:spPr>
      </p:pic>
      <p:sp>
        <p:nvSpPr>
          <p:cNvPr id="17" name="Text 12"/>
          <p:cNvSpPr/>
          <p:nvPr/>
        </p:nvSpPr>
        <p:spPr>
          <a:xfrm>
            <a:off x="5129784" y="2560320"/>
            <a:ext cx="1847088" cy="502920"/>
          </a:xfrm>
          <a:prstGeom prst="rect">
            <a:avLst/>
          </a:prstGeom>
          <a:noFill/>
          <a:ln/>
        </p:spPr>
        <p:txBody>
          <a:bodyPr wrap="square" lIns="0" tIns="0" rIns="0" bIns="0" rtlCol="0" anchor="ctr"/>
          <a:lstStyle/>
          <a:p>
            <a:pPr algn="ctr" indent="0" marL="0">
              <a:buNone/>
            </a:pPr>
            <a:r>
              <a:rPr lang="en-US" sz="1350" b="1" dirty="0">
                <a:solidFill>
                  <a:srgbClr val="1B2430"/>
                </a:solidFill>
                <a:latin typeface="Calibri" pitchFamily="34" charset="0"/>
                <a:ea typeface="Calibri" pitchFamily="34" charset="-122"/>
                <a:cs typeface="Calibri" pitchFamily="34" charset="-120"/>
              </a:rPr>
              <a:t>Suspicious links</a:t>
            </a:r>
            <a:endParaRPr lang="en-US" sz="1350" dirty="0"/>
          </a:p>
        </p:txBody>
      </p:sp>
      <p:sp>
        <p:nvSpPr>
          <p:cNvPr id="18" name="Text 13"/>
          <p:cNvSpPr/>
          <p:nvPr/>
        </p:nvSpPr>
        <p:spPr>
          <a:xfrm>
            <a:off x="5148072" y="3044952"/>
            <a:ext cx="1810512" cy="1554480"/>
          </a:xfrm>
          <a:prstGeom prst="rect">
            <a:avLst/>
          </a:prstGeom>
          <a:noFill/>
          <a:ln/>
        </p:spPr>
        <p:txBody>
          <a:bodyPr wrap="square" lIns="0" tIns="0" rIns="0" bIns="0" rtlCol="0" anchor="ctr"/>
          <a:lstStyle/>
          <a:p>
            <a:pPr algn="ctr" indent="0" marL="0">
              <a:buNone/>
            </a:pPr>
            <a:r>
              <a:rPr lang="en-US" sz="1000" dirty="0">
                <a:solidFill>
                  <a:srgbClr val="6B7686"/>
                </a:solidFill>
                <a:latin typeface="Calibri" pitchFamily="34" charset="0"/>
                <a:ea typeface="Calibri" pitchFamily="34" charset="-122"/>
                <a:cs typeface="Calibri" pitchFamily="34" charset="-120"/>
              </a:rPr>
              <a:t>Link text says one thing, the actual URL (visible on hover) goes somewhere else entirely — often a lookalike domain.</a:t>
            </a:r>
            <a:endParaRPr lang="en-US" sz="1000" dirty="0"/>
          </a:p>
        </p:txBody>
      </p:sp>
      <p:sp>
        <p:nvSpPr>
          <p:cNvPr id="19" name="Shape 14"/>
          <p:cNvSpPr/>
          <p:nvPr/>
        </p:nvSpPr>
        <p:spPr>
          <a:xfrm>
            <a:off x="7242048" y="1508760"/>
            <a:ext cx="2084832" cy="3246120"/>
          </a:xfrm>
          <a:prstGeom prst="roundRect">
            <a:avLst>
              <a:gd name="adj" fmla="val 3509"/>
            </a:avLst>
          </a:prstGeom>
          <a:solidFill>
            <a:srgbClr val="FFFFFF"/>
          </a:solidFill>
          <a:ln/>
          <a:effectLst>
            <a:outerShdw sx="100000" sy="100000" kx="0" ky="0" algn="bl" rotWithShape="0" blurRad="101600" dist="38100" dir="2700000">
              <a:srgbClr val="000000">
                <a:alpha val="12000"/>
              </a:srgbClr>
            </a:outerShdw>
          </a:effectLst>
        </p:spPr>
      </p:sp>
      <p:sp>
        <p:nvSpPr>
          <p:cNvPr id="20" name="Shape 15"/>
          <p:cNvSpPr/>
          <p:nvPr/>
        </p:nvSpPr>
        <p:spPr>
          <a:xfrm>
            <a:off x="7964424" y="1764792"/>
            <a:ext cx="640080" cy="640080"/>
          </a:xfrm>
          <a:prstGeom prst="ellipse">
            <a:avLst/>
          </a:prstGeom>
          <a:solidFill>
            <a:srgbClr val="FDEBEC"/>
          </a:solidFill>
          <a:ln/>
        </p:spPr>
      </p:sp>
      <p:pic>
        <p:nvPicPr>
          <p:cNvPr id="21" name="Image 3" descr="preencoded.png">    </p:cNvPr>
          <p:cNvPicPr>
            <a:picLocks noChangeAspect="1"/>
          </p:cNvPicPr>
          <p:nvPr/>
        </p:nvPicPr>
        <p:blipFill>
          <a:blip r:embed="rId4"/>
          <a:stretch>
            <a:fillRect/>
          </a:stretch>
        </p:blipFill>
        <p:spPr>
          <a:xfrm>
            <a:off x="8101584" y="1901952"/>
            <a:ext cx="365760" cy="365760"/>
          </a:xfrm>
          <a:prstGeom prst="rect">
            <a:avLst/>
          </a:prstGeom>
        </p:spPr>
      </p:pic>
      <p:sp>
        <p:nvSpPr>
          <p:cNvPr id="22" name="Text 16"/>
          <p:cNvSpPr/>
          <p:nvPr/>
        </p:nvSpPr>
        <p:spPr>
          <a:xfrm>
            <a:off x="7360920" y="2560320"/>
            <a:ext cx="1847088" cy="502920"/>
          </a:xfrm>
          <a:prstGeom prst="rect">
            <a:avLst/>
          </a:prstGeom>
          <a:noFill/>
          <a:ln/>
        </p:spPr>
        <p:txBody>
          <a:bodyPr wrap="square" lIns="0" tIns="0" rIns="0" bIns="0" rtlCol="0" anchor="ctr"/>
          <a:lstStyle/>
          <a:p>
            <a:pPr algn="ctr" indent="0" marL="0">
              <a:buNone/>
            </a:pPr>
            <a:r>
              <a:rPr lang="en-US" sz="1350" b="1" dirty="0">
                <a:solidFill>
                  <a:srgbClr val="1B2430"/>
                </a:solidFill>
                <a:latin typeface="Calibri" pitchFamily="34" charset="0"/>
                <a:ea typeface="Calibri" pitchFamily="34" charset="-122"/>
                <a:cs typeface="Calibri" pitchFamily="34" charset="-120"/>
              </a:rPr>
              <a:t>Unexpected attachments</a:t>
            </a:r>
            <a:endParaRPr lang="en-US" sz="1350" dirty="0"/>
          </a:p>
        </p:txBody>
      </p:sp>
      <p:sp>
        <p:nvSpPr>
          <p:cNvPr id="23" name="Text 17"/>
          <p:cNvSpPr/>
          <p:nvPr/>
        </p:nvSpPr>
        <p:spPr>
          <a:xfrm>
            <a:off x="7379208" y="3044952"/>
            <a:ext cx="1810512" cy="1554480"/>
          </a:xfrm>
          <a:prstGeom prst="rect">
            <a:avLst/>
          </a:prstGeom>
          <a:noFill/>
          <a:ln/>
        </p:spPr>
        <p:txBody>
          <a:bodyPr wrap="square" lIns="0" tIns="0" rIns="0" bIns="0" rtlCol="0" anchor="ctr"/>
          <a:lstStyle/>
          <a:p>
            <a:pPr algn="ctr" indent="0" marL="0">
              <a:buNone/>
            </a:pPr>
            <a:r>
              <a:rPr lang="en-US" sz="1000" dirty="0">
                <a:solidFill>
                  <a:srgbClr val="6B7686"/>
                </a:solidFill>
                <a:latin typeface="Calibri" pitchFamily="34" charset="0"/>
                <a:ea typeface="Calibri" pitchFamily="34" charset="-122"/>
                <a:cs typeface="Calibri" pitchFamily="34" charset="-120"/>
              </a:rPr>
              <a:t>Invoices, "voicemails," or shipping labels you didn't request — especially .zip, .html, or macro-enabled Office files.</a:t>
            </a:r>
            <a:endParaRPr lang="en-US" sz="1000" dirty="0"/>
          </a:p>
        </p:txBody>
      </p:sp>
      <p:sp>
        <p:nvSpPr>
          <p:cNvPr id="24" name="Shape 18"/>
          <p:cNvSpPr/>
          <p:nvPr/>
        </p:nvSpPr>
        <p:spPr>
          <a:xfrm>
            <a:off x="9473184" y="1508760"/>
            <a:ext cx="2084832" cy="3246120"/>
          </a:xfrm>
          <a:prstGeom prst="roundRect">
            <a:avLst>
              <a:gd name="adj" fmla="val 3509"/>
            </a:avLst>
          </a:prstGeom>
          <a:solidFill>
            <a:srgbClr val="FFFFFF"/>
          </a:solidFill>
          <a:ln/>
          <a:effectLst>
            <a:outerShdw sx="100000" sy="100000" kx="0" ky="0" algn="bl" rotWithShape="0" blurRad="101600" dist="38100" dir="2700000">
              <a:srgbClr val="000000">
                <a:alpha val="12000"/>
              </a:srgbClr>
            </a:outerShdw>
          </a:effectLst>
        </p:spPr>
      </p:sp>
      <p:sp>
        <p:nvSpPr>
          <p:cNvPr id="25" name="Shape 19"/>
          <p:cNvSpPr/>
          <p:nvPr/>
        </p:nvSpPr>
        <p:spPr>
          <a:xfrm>
            <a:off x="10195560" y="1764792"/>
            <a:ext cx="640080" cy="640080"/>
          </a:xfrm>
          <a:prstGeom prst="ellipse">
            <a:avLst/>
          </a:prstGeom>
          <a:solidFill>
            <a:srgbClr val="FDEBEC"/>
          </a:solidFill>
          <a:ln/>
        </p:spPr>
      </p:sp>
      <p:pic>
        <p:nvPicPr>
          <p:cNvPr id="26" name="Image 4" descr="preencoded.png">    </p:cNvPr>
          <p:cNvPicPr>
            <a:picLocks noChangeAspect="1"/>
          </p:cNvPicPr>
          <p:nvPr/>
        </p:nvPicPr>
        <p:blipFill>
          <a:blip r:embed="rId5"/>
          <a:stretch>
            <a:fillRect/>
          </a:stretch>
        </p:blipFill>
        <p:spPr>
          <a:xfrm>
            <a:off x="10332720" y="1901952"/>
            <a:ext cx="365760" cy="365760"/>
          </a:xfrm>
          <a:prstGeom prst="rect">
            <a:avLst/>
          </a:prstGeom>
        </p:spPr>
      </p:pic>
      <p:sp>
        <p:nvSpPr>
          <p:cNvPr id="27" name="Text 20"/>
          <p:cNvSpPr/>
          <p:nvPr/>
        </p:nvSpPr>
        <p:spPr>
          <a:xfrm>
            <a:off x="9592056" y="2560320"/>
            <a:ext cx="1847088" cy="502920"/>
          </a:xfrm>
          <a:prstGeom prst="rect">
            <a:avLst/>
          </a:prstGeom>
          <a:noFill/>
          <a:ln/>
        </p:spPr>
        <p:txBody>
          <a:bodyPr wrap="square" lIns="0" tIns="0" rIns="0" bIns="0" rtlCol="0" anchor="ctr"/>
          <a:lstStyle/>
          <a:p>
            <a:pPr algn="ctr" indent="0" marL="0">
              <a:buNone/>
            </a:pPr>
            <a:r>
              <a:rPr lang="en-US" sz="1350" b="1" dirty="0">
                <a:solidFill>
                  <a:srgbClr val="1B2430"/>
                </a:solidFill>
                <a:latin typeface="Calibri" pitchFamily="34" charset="0"/>
                <a:ea typeface="Calibri" pitchFamily="34" charset="-122"/>
                <a:cs typeface="Calibri" pitchFamily="34" charset="-120"/>
              </a:rPr>
              <a:t>Tone and grammar tells</a:t>
            </a:r>
            <a:endParaRPr lang="en-US" sz="1350" dirty="0"/>
          </a:p>
        </p:txBody>
      </p:sp>
      <p:sp>
        <p:nvSpPr>
          <p:cNvPr id="28" name="Text 21"/>
          <p:cNvSpPr/>
          <p:nvPr/>
        </p:nvSpPr>
        <p:spPr>
          <a:xfrm>
            <a:off x="9610344" y="3044952"/>
            <a:ext cx="1810512" cy="1554480"/>
          </a:xfrm>
          <a:prstGeom prst="rect">
            <a:avLst/>
          </a:prstGeom>
          <a:noFill/>
          <a:ln/>
        </p:spPr>
        <p:txBody>
          <a:bodyPr wrap="square" lIns="0" tIns="0" rIns="0" bIns="0" rtlCol="0" anchor="ctr"/>
          <a:lstStyle/>
          <a:p>
            <a:pPr algn="ctr" indent="0" marL="0">
              <a:buNone/>
            </a:pPr>
            <a:r>
              <a:rPr lang="en-US" sz="1000" dirty="0">
                <a:solidFill>
                  <a:srgbClr val="6B7686"/>
                </a:solidFill>
                <a:latin typeface="Calibri" pitchFamily="34" charset="0"/>
                <a:ea typeface="Calibri" pitchFamily="34" charset="-122"/>
                <a:cs typeface="Calibri" pitchFamily="34" charset="-120"/>
              </a:rPr>
              <a:t>Generic greetings ("Dear Customer"), odd phrasing, or a tone that doesn't match how this sender normally writes.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Spotting a Fake Website</a:t>
            </a:r>
            <a:endParaRPr lang="en-US" sz="3000" dirty="0"/>
          </a:p>
        </p:txBody>
      </p:sp>
      <p:sp>
        <p:nvSpPr>
          <p:cNvPr id="3" name="Text 1"/>
          <p:cNvSpPr/>
          <p:nvPr/>
        </p:nvSpPr>
        <p:spPr>
          <a:xfrm>
            <a:off x="548640" y="914400"/>
            <a:ext cx="10515600" cy="365760"/>
          </a:xfrm>
          <a:prstGeom prst="rect">
            <a:avLst/>
          </a:prstGeom>
          <a:noFill/>
          <a:ln/>
        </p:spPr>
        <p:txBody>
          <a:bodyPr wrap="square" lIns="0" tIns="0" rIns="0" bIns="0" rtlCol="0" anchor="ctr"/>
          <a:lstStyle/>
          <a:p>
            <a:pPr indent="0" marL="0">
              <a:buNone/>
            </a:pPr>
            <a:r>
              <a:rPr lang="en-US" sz="1300" dirty="0">
                <a:solidFill>
                  <a:srgbClr val="6B7686"/>
                </a:solidFill>
                <a:latin typeface="Calibri" pitchFamily="34" charset="0"/>
                <a:ea typeface="Calibri" pitchFamily="34" charset="-122"/>
                <a:cs typeface="Calibri" pitchFamily="34" charset="-120"/>
              </a:rPr>
              <a:t>The padlock icon means the connection is encrypted — it says nothing about who owns the site.</a:t>
            </a:r>
            <a:endParaRPr lang="en-US" sz="1300" dirty="0"/>
          </a:p>
        </p:txBody>
      </p:sp>
      <p:sp>
        <p:nvSpPr>
          <p:cNvPr id="4" name="Shape 2"/>
          <p:cNvSpPr/>
          <p:nvPr/>
        </p:nvSpPr>
        <p:spPr>
          <a:xfrm>
            <a:off x="548640" y="1554480"/>
            <a:ext cx="5257800" cy="914400"/>
          </a:xfrm>
          <a:prstGeom prst="roundRect">
            <a:avLst>
              <a:gd name="adj" fmla="val 6000"/>
            </a:avLst>
          </a:prstGeom>
          <a:solidFill>
            <a:srgbClr val="FFFFFF"/>
          </a:solidFill>
          <a:ln w="19050">
            <a:solidFill>
              <a:srgbClr val="1D8348"/>
            </a:solidFill>
            <a:prstDash val="solid"/>
          </a:ln>
          <a:effectLst>
            <a:outerShdw sx="100000" sy="100000" kx="0" ky="0" algn="bl" rotWithShape="0" blurRad="101600" dist="38100" dir="27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777240" y="1847088"/>
            <a:ext cx="320040" cy="320040"/>
          </a:xfrm>
          <a:prstGeom prst="rect">
            <a:avLst/>
          </a:prstGeom>
        </p:spPr>
      </p:pic>
      <p:sp>
        <p:nvSpPr>
          <p:cNvPr id="6" name="Text 3"/>
          <p:cNvSpPr/>
          <p:nvPr/>
        </p:nvSpPr>
        <p:spPr>
          <a:xfrm>
            <a:off x="1234440" y="1691640"/>
            <a:ext cx="4389120" cy="320040"/>
          </a:xfrm>
          <a:prstGeom prst="rect">
            <a:avLst/>
          </a:prstGeom>
          <a:noFill/>
          <a:ln/>
        </p:spPr>
        <p:txBody>
          <a:bodyPr wrap="square" lIns="0" tIns="0" rIns="0" bIns="0" rtlCol="0" anchor="ctr"/>
          <a:lstStyle/>
          <a:p>
            <a:pPr indent="0" marL="0">
              <a:buNone/>
            </a:pPr>
            <a:r>
              <a:rPr lang="en-US" sz="1300" dirty="0">
                <a:solidFill>
                  <a:srgbClr val="6B7686"/>
                </a:solidFill>
                <a:latin typeface="Courier New" pitchFamily="34" charset="0"/>
                <a:ea typeface="Courier New" pitchFamily="34" charset="-122"/>
                <a:cs typeface="Courier New" pitchFamily="34" charset="-120"/>
              </a:rPr>
              <a:t>https://</a:t>
            </a:r>
            <a:pPr indent="0" marL="0">
              <a:buNone/>
            </a:pPr>
            <a:r>
              <a:rPr lang="en-US" sz="1300" b="1" dirty="0">
                <a:solidFill>
                  <a:srgbClr val="1D8348"/>
                </a:solidFill>
                <a:latin typeface="Courier New" pitchFamily="34" charset="0"/>
                <a:ea typeface="Courier New" pitchFamily="34" charset="-122"/>
                <a:cs typeface="Courier New" pitchFamily="34" charset="-120"/>
              </a:rPr>
              <a:t>accounts.google.com</a:t>
            </a:r>
            <a:pPr indent="0" marL="0">
              <a:buNone/>
            </a:pPr>
            <a:r>
              <a:rPr lang="en-US" sz="1300" dirty="0">
                <a:solidFill>
                  <a:srgbClr val="6B7686"/>
                </a:solidFill>
                <a:latin typeface="Courier New" pitchFamily="34" charset="0"/>
                <a:ea typeface="Courier New" pitchFamily="34" charset="-122"/>
                <a:cs typeface="Courier New" pitchFamily="34" charset="-120"/>
              </a:rPr>
              <a:t>/signin</a:t>
            </a:r>
            <a:endParaRPr lang="en-US" sz="1300" dirty="0"/>
          </a:p>
        </p:txBody>
      </p:sp>
      <p:sp>
        <p:nvSpPr>
          <p:cNvPr id="7" name="Text 4"/>
          <p:cNvSpPr/>
          <p:nvPr/>
        </p:nvSpPr>
        <p:spPr>
          <a:xfrm>
            <a:off x="1234440" y="2057400"/>
            <a:ext cx="4389120" cy="320040"/>
          </a:xfrm>
          <a:prstGeom prst="rect">
            <a:avLst/>
          </a:prstGeom>
          <a:noFill/>
          <a:ln/>
        </p:spPr>
        <p:txBody>
          <a:bodyPr wrap="square" lIns="0" tIns="0" rIns="0" bIns="0" rtlCol="0" anchor="ctr"/>
          <a:lstStyle/>
          <a:p>
            <a:pPr indent="0" marL="0">
              <a:buNone/>
            </a:pPr>
            <a:r>
              <a:rPr lang="en-US" sz="1050" i="1" dirty="0">
                <a:solidFill>
                  <a:srgbClr val="1D8348"/>
                </a:solidFill>
                <a:latin typeface="Calibri" pitchFamily="34" charset="0"/>
                <a:ea typeface="Calibri" pitchFamily="34" charset="-122"/>
                <a:cs typeface="Calibri" pitchFamily="34" charset="-120"/>
              </a:rPr>
              <a:t>Genuine — exact registered domain, correct spelling</a:t>
            </a:r>
            <a:endParaRPr lang="en-US" sz="1050" dirty="0"/>
          </a:p>
        </p:txBody>
      </p:sp>
      <p:sp>
        <p:nvSpPr>
          <p:cNvPr id="8" name="Shape 5"/>
          <p:cNvSpPr/>
          <p:nvPr/>
        </p:nvSpPr>
        <p:spPr>
          <a:xfrm>
            <a:off x="6172200" y="1554480"/>
            <a:ext cx="5257800" cy="914400"/>
          </a:xfrm>
          <a:prstGeom prst="roundRect">
            <a:avLst>
              <a:gd name="adj" fmla="val 6000"/>
            </a:avLst>
          </a:prstGeom>
          <a:solidFill>
            <a:srgbClr val="FFFFFF"/>
          </a:solidFill>
          <a:ln w="19050">
            <a:solidFill>
              <a:srgbClr val="D7263D"/>
            </a:solidFill>
            <a:prstDash val="solid"/>
          </a:ln>
          <a:effectLst>
            <a:outerShdw sx="100000" sy="100000" kx="0" ky="0" algn="bl" rotWithShape="0" blurRad="101600" dist="38100" dir="2700000">
              <a:srgbClr val="000000">
                <a:alpha val="12000"/>
              </a:srgbClr>
            </a:outerShdw>
          </a:effectLst>
        </p:spPr>
      </p:sp>
      <p:pic>
        <p:nvPicPr>
          <p:cNvPr id="9" name="Image 1" descr="preencoded.png">    </p:cNvPr>
          <p:cNvPicPr>
            <a:picLocks noChangeAspect="1"/>
          </p:cNvPicPr>
          <p:nvPr/>
        </p:nvPicPr>
        <p:blipFill>
          <a:blip r:embed="rId2"/>
          <a:stretch>
            <a:fillRect/>
          </a:stretch>
        </p:blipFill>
        <p:spPr>
          <a:xfrm>
            <a:off x="6400800" y="1847088"/>
            <a:ext cx="320040" cy="320040"/>
          </a:xfrm>
          <a:prstGeom prst="rect">
            <a:avLst/>
          </a:prstGeom>
        </p:spPr>
      </p:pic>
      <p:sp>
        <p:nvSpPr>
          <p:cNvPr id="10" name="Text 6"/>
          <p:cNvSpPr/>
          <p:nvPr/>
        </p:nvSpPr>
        <p:spPr>
          <a:xfrm>
            <a:off x="6629400" y="1691640"/>
            <a:ext cx="4389120" cy="320040"/>
          </a:xfrm>
          <a:prstGeom prst="rect">
            <a:avLst/>
          </a:prstGeom>
          <a:noFill/>
          <a:ln/>
        </p:spPr>
        <p:txBody>
          <a:bodyPr wrap="square" lIns="0" tIns="0" rIns="0" bIns="0" rtlCol="0" anchor="ctr"/>
          <a:lstStyle/>
          <a:p>
            <a:pPr indent="0" marL="0">
              <a:buNone/>
            </a:pPr>
            <a:r>
              <a:rPr lang="en-US" sz="1300" dirty="0">
                <a:solidFill>
                  <a:srgbClr val="6B7686"/>
                </a:solidFill>
                <a:latin typeface="Courier New" pitchFamily="34" charset="0"/>
                <a:ea typeface="Courier New" pitchFamily="34" charset="-122"/>
                <a:cs typeface="Courier New" pitchFamily="34" charset="-120"/>
              </a:rPr>
              <a:t>https://</a:t>
            </a:r>
            <a:pPr indent="0" marL="0">
              <a:buNone/>
            </a:pPr>
            <a:r>
              <a:rPr lang="en-US" sz="1300" b="1" dirty="0">
                <a:solidFill>
                  <a:srgbClr val="A31621"/>
                </a:solidFill>
                <a:latin typeface="Courier New" pitchFamily="34" charset="0"/>
                <a:ea typeface="Courier New" pitchFamily="34" charset="-122"/>
                <a:cs typeface="Courier New" pitchFamily="34" charset="-120"/>
              </a:rPr>
              <a:t>accounts-google-secure.com</a:t>
            </a:r>
            <a:pPr indent="0" marL="0">
              <a:buNone/>
            </a:pPr>
            <a:r>
              <a:rPr lang="en-US" sz="1300" dirty="0">
                <a:solidFill>
                  <a:srgbClr val="6B7686"/>
                </a:solidFill>
                <a:latin typeface="Courier New" pitchFamily="34" charset="0"/>
                <a:ea typeface="Courier New" pitchFamily="34" charset="-122"/>
                <a:cs typeface="Courier New" pitchFamily="34" charset="-120"/>
              </a:rPr>
              <a:t>/signin</a:t>
            </a:r>
            <a:endParaRPr lang="en-US" sz="1300" dirty="0"/>
          </a:p>
        </p:txBody>
      </p:sp>
      <p:sp>
        <p:nvSpPr>
          <p:cNvPr id="11" name="Text 7"/>
          <p:cNvSpPr/>
          <p:nvPr/>
        </p:nvSpPr>
        <p:spPr>
          <a:xfrm>
            <a:off x="6629400" y="2057400"/>
            <a:ext cx="4389120" cy="320040"/>
          </a:xfrm>
          <a:prstGeom prst="rect">
            <a:avLst/>
          </a:prstGeom>
          <a:noFill/>
          <a:ln/>
        </p:spPr>
        <p:txBody>
          <a:bodyPr wrap="square" lIns="0" tIns="0" rIns="0" bIns="0" rtlCol="0" anchor="ctr"/>
          <a:lstStyle/>
          <a:p>
            <a:pPr indent="0" marL="0">
              <a:buNone/>
            </a:pPr>
            <a:r>
              <a:rPr lang="en-US" sz="1050" i="1" dirty="0">
                <a:solidFill>
                  <a:srgbClr val="A31621"/>
                </a:solidFill>
                <a:latin typeface="Calibri" pitchFamily="34" charset="0"/>
                <a:ea typeface="Calibri" pitchFamily="34" charset="-122"/>
                <a:cs typeface="Calibri" pitchFamily="34" charset="-120"/>
              </a:rPr>
              <a:t>Fake — real-looking padlock, wrong domain entirely</a:t>
            </a:r>
            <a:endParaRPr lang="en-US" sz="1050" dirty="0"/>
          </a:p>
        </p:txBody>
      </p:sp>
      <p:sp>
        <p:nvSpPr>
          <p:cNvPr id="12" name="Shape 8"/>
          <p:cNvSpPr/>
          <p:nvPr/>
        </p:nvSpPr>
        <p:spPr>
          <a:xfrm>
            <a:off x="548640" y="2788920"/>
            <a:ext cx="5257800" cy="822960"/>
          </a:xfrm>
          <a:prstGeom prst="roundRect">
            <a:avLst>
              <a:gd name="adj" fmla="val 7778"/>
            </a:avLst>
          </a:prstGeom>
          <a:solidFill>
            <a:srgbClr val="FFFFFF"/>
          </a:solidFill>
          <a:ln/>
          <a:effectLst>
            <a:outerShdw sx="100000" sy="100000" kx="0" ky="0" algn="bl" rotWithShape="0" blurRad="101600" dist="38100" dir="2700000">
              <a:srgbClr val="000000">
                <a:alpha val="12000"/>
              </a:srgbClr>
            </a:outerShdw>
          </a:effectLst>
        </p:spPr>
      </p:sp>
      <p:pic>
        <p:nvPicPr>
          <p:cNvPr id="13" name="Image 2" descr="preencoded.png">    </p:cNvPr>
          <p:cNvPicPr>
            <a:picLocks noChangeAspect="1"/>
          </p:cNvPicPr>
          <p:nvPr/>
        </p:nvPicPr>
        <p:blipFill>
          <a:blip r:embed="rId3"/>
          <a:stretch>
            <a:fillRect/>
          </a:stretch>
        </p:blipFill>
        <p:spPr>
          <a:xfrm>
            <a:off x="731520" y="3035808"/>
            <a:ext cx="320040" cy="320040"/>
          </a:xfrm>
          <a:prstGeom prst="rect">
            <a:avLst/>
          </a:prstGeom>
        </p:spPr>
      </p:pic>
      <p:sp>
        <p:nvSpPr>
          <p:cNvPr id="14" name="Text 9"/>
          <p:cNvSpPr/>
          <p:nvPr/>
        </p:nvSpPr>
        <p:spPr>
          <a:xfrm>
            <a:off x="1188720" y="2862072"/>
            <a:ext cx="4480560" cy="68580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Read the domain right-to-left from the first single slash — everything before it is the real owner.</a:t>
            </a:r>
            <a:endParaRPr lang="en-US" sz="1100" dirty="0"/>
          </a:p>
        </p:txBody>
      </p:sp>
      <p:sp>
        <p:nvSpPr>
          <p:cNvPr id="15" name="Shape 10"/>
          <p:cNvSpPr/>
          <p:nvPr/>
        </p:nvSpPr>
        <p:spPr>
          <a:xfrm>
            <a:off x="6126480" y="2788920"/>
            <a:ext cx="5257800" cy="822960"/>
          </a:xfrm>
          <a:prstGeom prst="roundRect">
            <a:avLst>
              <a:gd name="adj" fmla="val 7778"/>
            </a:avLst>
          </a:prstGeom>
          <a:solidFill>
            <a:srgbClr val="FFFFFF"/>
          </a:solidFill>
          <a:ln/>
          <a:effectLst>
            <a:outerShdw sx="100000" sy="100000" kx="0" ky="0" algn="bl" rotWithShape="0" blurRad="101600" dist="38100" dir="2700000">
              <a:srgbClr val="000000">
                <a:alpha val="12000"/>
              </a:srgbClr>
            </a:outerShdw>
          </a:effectLst>
        </p:spPr>
      </p:sp>
      <p:pic>
        <p:nvPicPr>
          <p:cNvPr id="16" name="Image 3" descr="preencoded.png">    </p:cNvPr>
          <p:cNvPicPr>
            <a:picLocks noChangeAspect="1"/>
          </p:cNvPicPr>
          <p:nvPr/>
        </p:nvPicPr>
        <p:blipFill>
          <a:blip r:embed="rId4"/>
          <a:stretch>
            <a:fillRect/>
          </a:stretch>
        </p:blipFill>
        <p:spPr>
          <a:xfrm>
            <a:off x="6309360" y="3035808"/>
            <a:ext cx="320040" cy="320040"/>
          </a:xfrm>
          <a:prstGeom prst="rect">
            <a:avLst/>
          </a:prstGeom>
        </p:spPr>
      </p:pic>
      <p:sp>
        <p:nvSpPr>
          <p:cNvPr id="17" name="Text 11"/>
          <p:cNvSpPr/>
          <p:nvPr/>
        </p:nvSpPr>
        <p:spPr>
          <a:xfrm>
            <a:off x="6766560" y="2862072"/>
            <a:ext cx="4480560" cy="68580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Watch for lookalikes: rn instead of m, extra hyphens, added words like “secure” or “verify.”</a:t>
            </a:r>
            <a:endParaRPr lang="en-US" sz="1100" dirty="0"/>
          </a:p>
        </p:txBody>
      </p:sp>
      <p:sp>
        <p:nvSpPr>
          <p:cNvPr id="18" name="Shape 12"/>
          <p:cNvSpPr/>
          <p:nvPr/>
        </p:nvSpPr>
        <p:spPr>
          <a:xfrm>
            <a:off x="548640" y="3749040"/>
            <a:ext cx="5257800" cy="822960"/>
          </a:xfrm>
          <a:prstGeom prst="roundRect">
            <a:avLst>
              <a:gd name="adj" fmla="val 7778"/>
            </a:avLst>
          </a:prstGeom>
          <a:solidFill>
            <a:srgbClr val="FFFFFF"/>
          </a:solidFill>
          <a:ln/>
          <a:effectLst>
            <a:outerShdw sx="100000" sy="100000" kx="0" ky="0" algn="bl" rotWithShape="0" blurRad="101600" dist="38100" dir="2700000">
              <a:srgbClr val="000000">
                <a:alpha val="12000"/>
              </a:srgbClr>
            </a:outerShdw>
          </a:effectLst>
        </p:spPr>
      </p:sp>
      <p:pic>
        <p:nvPicPr>
          <p:cNvPr id="19" name="Image 4" descr="preencoded.png">    </p:cNvPr>
          <p:cNvPicPr>
            <a:picLocks noChangeAspect="1"/>
          </p:cNvPicPr>
          <p:nvPr/>
        </p:nvPicPr>
        <p:blipFill>
          <a:blip r:embed="rId5"/>
          <a:stretch>
            <a:fillRect/>
          </a:stretch>
        </p:blipFill>
        <p:spPr>
          <a:xfrm>
            <a:off x="731520" y="3995928"/>
            <a:ext cx="320040" cy="320040"/>
          </a:xfrm>
          <a:prstGeom prst="rect">
            <a:avLst/>
          </a:prstGeom>
        </p:spPr>
      </p:pic>
      <p:sp>
        <p:nvSpPr>
          <p:cNvPr id="20" name="Text 13"/>
          <p:cNvSpPr/>
          <p:nvPr/>
        </p:nvSpPr>
        <p:spPr>
          <a:xfrm>
            <a:off x="1188720" y="3822192"/>
            <a:ext cx="4480560" cy="68580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 padlock only confirms encryption — anyone, including attackers, can get one for free.</a:t>
            </a:r>
            <a:endParaRPr lang="en-US" sz="1100" dirty="0"/>
          </a:p>
        </p:txBody>
      </p:sp>
      <p:sp>
        <p:nvSpPr>
          <p:cNvPr id="21" name="Shape 14"/>
          <p:cNvSpPr/>
          <p:nvPr/>
        </p:nvSpPr>
        <p:spPr>
          <a:xfrm>
            <a:off x="6126480" y="3749040"/>
            <a:ext cx="5257800" cy="822960"/>
          </a:xfrm>
          <a:prstGeom prst="roundRect">
            <a:avLst>
              <a:gd name="adj" fmla="val 7778"/>
            </a:avLst>
          </a:prstGeom>
          <a:solidFill>
            <a:srgbClr val="FFFFFF"/>
          </a:solidFill>
          <a:ln/>
          <a:effectLst>
            <a:outerShdw sx="100000" sy="100000" kx="0" ky="0" algn="bl" rotWithShape="0" blurRad="101600" dist="38100" dir="2700000">
              <a:srgbClr val="000000">
                <a:alpha val="12000"/>
              </a:srgbClr>
            </a:outerShdw>
          </a:effectLst>
        </p:spPr>
      </p:sp>
      <p:pic>
        <p:nvPicPr>
          <p:cNvPr id="22" name="Image 5" descr="preencoded.png">    </p:cNvPr>
          <p:cNvPicPr>
            <a:picLocks noChangeAspect="1"/>
          </p:cNvPicPr>
          <p:nvPr/>
        </p:nvPicPr>
        <p:blipFill>
          <a:blip r:embed="rId6"/>
          <a:stretch>
            <a:fillRect/>
          </a:stretch>
        </p:blipFill>
        <p:spPr>
          <a:xfrm>
            <a:off x="6309360" y="3995928"/>
            <a:ext cx="320040" cy="320040"/>
          </a:xfrm>
          <a:prstGeom prst="rect">
            <a:avLst/>
          </a:prstGeom>
        </p:spPr>
      </p:pic>
      <p:sp>
        <p:nvSpPr>
          <p:cNvPr id="23" name="Text 15"/>
          <p:cNvSpPr/>
          <p:nvPr/>
        </p:nvSpPr>
        <p:spPr>
          <a:xfrm>
            <a:off x="6766560" y="3822192"/>
            <a:ext cx="4480560" cy="68580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Never enter credentials after clicking an emailed link — type the known URL yourself or use a saved bookmark.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Social Engineering Playbook</a:t>
            </a:r>
            <a:endParaRPr lang="en-US" sz="3000" dirty="0"/>
          </a:p>
        </p:txBody>
      </p:sp>
      <p:sp>
        <p:nvSpPr>
          <p:cNvPr id="3" name="Text 1"/>
          <p:cNvSpPr/>
          <p:nvPr/>
        </p:nvSpPr>
        <p:spPr>
          <a:xfrm>
            <a:off x="548640" y="960120"/>
            <a:ext cx="9601200" cy="365760"/>
          </a:xfrm>
          <a:prstGeom prst="rect">
            <a:avLst/>
          </a:prstGeom>
          <a:noFill/>
          <a:ln/>
        </p:spPr>
        <p:txBody>
          <a:bodyPr wrap="square" lIns="0" tIns="0" rIns="0" bIns="0" rtlCol="0" anchor="ctr"/>
          <a:lstStyle/>
          <a:p>
            <a:pPr indent="0" marL="0">
              <a:buNone/>
            </a:pPr>
            <a:r>
              <a:rPr lang="en-US" sz="1300" dirty="0">
                <a:solidFill>
                  <a:srgbClr val="AEB9CC"/>
                </a:solidFill>
                <a:latin typeface="Calibri" pitchFamily="34" charset="0"/>
                <a:ea typeface="Calibri" pitchFamily="34" charset="-122"/>
                <a:cs typeface="Calibri" pitchFamily="34" charset="-120"/>
              </a:rPr>
              <a:t>Phishing rarely relies on technology alone — it relies on these psychological levers.</a:t>
            </a:r>
            <a:endParaRPr lang="en-US" sz="1300" dirty="0"/>
          </a:p>
        </p:txBody>
      </p:sp>
      <p:sp>
        <p:nvSpPr>
          <p:cNvPr id="4" name="Shape 2"/>
          <p:cNvSpPr/>
          <p:nvPr/>
        </p:nvSpPr>
        <p:spPr>
          <a:xfrm>
            <a:off x="548640" y="1600200"/>
            <a:ext cx="3566160" cy="1417320"/>
          </a:xfrm>
          <a:prstGeom prst="roundRect">
            <a:avLst>
              <a:gd name="adj" fmla="val 5161"/>
            </a:avLst>
          </a:prstGeom>
          <a:solidFill>
            <a:srgbClr val="1F2E4D"/>
          </a:solidFill>
          <a:ln/>
        </p:spPr>
      </p:sp>
      <p:sp>
        <p:nvSpPr>
          <p:cNvPr id="5" name="Shape 3"/>
          <p:cNvSpPr/>
          <p:nvPr/>
        </p:nvSpPr>
        <p:spPr>
          <a:xfrm>
            <a:off x="731520" y="1783080"/>
            <a:ext cx="548640" cy="548640"/>
          </a:xfrm>
          <a:prstGeom prst="ellipse">
            <a:avLst/>
          </a:prstGeom>
          <a:solidFill>
            <a:srgbClr val="D7263D"/>
          </a:solidFill>
          <a:ln/>
        </p:spPr>
      </p:sp>
      <p:pic>
        <p:nvPicPr>
          <p:cNvPr id="6" name="Image 0" descr="preencoded.png">    </p:cNvPr>
          <p:cNvPicPr>
            <a:picLocks noChangeAspect="1"/>
          </p:cNvPicPr>
          <p:nvPr/>
        </p:nvPicPr>
        <p:blipFill>
          <a:blip r:embed="rId1"/>
          <a:stretch>
            <a:fillRect/>
          </a:stretch>
        </p:blipFill>
        <p:spPr>
          <a:xfrm>
            <a:off x="859536" y="1911096"/>
            <a:ext cx="292608" cy="292608"/>
          </a:xfrm>
          <a:prstGeom prst="rect">
            <a:avLst/>
          </a:prstGeom>
        </p:spPr>
      </p:pic>
      <p:sp>
        <p:nvSpPr>
          <p:cNvPr id="7" name="Text 4"/>
          <p:cNvSpPr/>
          <p:nvPr/>
        </p:nvSpPr>
        <p:spPr>
          <a:xfrm>
            <a:off x="1417320" y="1737360"/>
            <a:ext cx="25603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Pretexting</a:t>
            </a:r>
            <a:endParaRPr lang="en-US" sz="1400" dirty="0"/>
          </a:p>
        </p:txBody>
      </p:sp>
      <p:sp>
        <p:nvSpPr>
          <p:cNvPr id="8" name="Text 5"/>
          <p:cNvSpPr/>
          <p:nvPr/>
        </p:nvSpPr>
        <p:spPr>
          <a:xfrm>
            <a:off x="1417320" y="2103120"/>
            <a:ext cx="2560320" cy="777240"/>
          </a:xfrm>
          <a:prstGeom prst="rect">
            <a:avLst/>
          </a:prstGeom>
          <a:noFill/>
          <a:ln/>
        </p:spPr>
        <p:txBody>
          <a:bodyPr wrap="square" lIns="0" tIns="0" rIns="0" bIns="0" rtlCol="0" anchor="ctr"/>
          <a:lstStyle/>
          <a:p>
            <a:pPr indent="0" marL="0">
              <a:buNone/>
            </a:pPr>
            <a:r>
              <a:rPr lang="en-US" sz="1000" dirty="0">
                <a:solidFill>
                  <a:srgbClr val="C7D0DE"/>
                </a:solidFill>
                <a:latin typeface="Calibri" pitchFamily="34" charset="0"/>
                <a:ea typeface="Calibri" pitchFamily="34" charset="-122"/>
                <a:cs typeface="Calibri" pitchFamily="34" charset="-120"/>
              </a:rPr>
              <a:t>Inventing a believable scenario — "I'm from IT, we need to verify your password" — to justify an unusual request.</a:t>
            </a:r>
            <a:endParaRPr lang="en-US" sz="1000" dirty="0"/>
          </a:p>
        </p:txBody>
      </p:sp>
      <p:sp>
        <p:nvSpPr>
          <p:cNvPr id="9" name="Shape 6"/>
          <p:cNvSpPr/>
          <p:nvPr/>
        </p:nvSpPr>
        <p:spPr>
          <a:xfrm>
            <a:off x="4297680" y="1600200"/>
            <a:ext cx="3566160" cy="1417320"/>
          </a:xfrm>
          <a:prstGeom prst="roundRect">
            <a:avLst>
              <a:gd name="adj" fmla="val 5161"/>
            </a:avLst>
          </a:prstGeom>
          <a:solidFill>
            <a:srgbClr val="1F2E4D"/>
          </a:solidFill>
          <a:ln/>
        </p:spPr>
      </p:sp>
      <p:sp>
        <p:nvSpPr>
          <p:cNvPr id="10" name="Shape 7"/>
          <p:cNvSpPr/>
          <p:nvPr/>
        </p:nvSpPr>
        <p:spPr>
          <a:xfrm>
            <a:off x="4480560" y="1783080"/>
            <a:ext cx="548640" cy="548640"/>
          </a:xfrm>
          <a:prstGeom prst="ellipse">
            <a:avLst/>
          </a:prstGeom>
          <a:solidFill>
            <a:srgbClr val="D7263D"/>
          </a:solidFill>
          <a:ln/>
        </p:spPr>
      </p:sp>
      <p:pic>
        <p:nvPicPr>
          <p:cNvPr id="11" name="Image 1" descr="preencoded.png">    </p:cNvPr>
          <p:cNvPicPr>
            <a:picLocks noChangeAspect="1"/>
          </p:cNvPicPr>
          <p:nvPr/>
        </p:nvPicPr>
        <p:blipFill>
          <a:blip r:embed="rId2"/>
          <a:stretch>
            <a:fillRect/>
          </a:stretch>
        </p:blipFill>
        <p:spPr>
          <a:xfrm>
            <a:off x="4608576" y="1911096"/>
            <a:ext cx="292608" cy="292608"/>
          </a:xfrm>
          <a:prstGeom prst="rect">
            <a:avLst/>
          </a:prstGeom>
        </p:spPr>
      </p:pic>
      <p:sp>
        <p:nvSpPr>
          <p:cNvPr id="12" name="Text 8"/>
          <p:cNvSpPr/>
          <p:nvPr/>
        </p:nvSpPr>
        <p:spPr>
          <a:xfrm>
            <a:off x="5166360" y="1737360"/>
            <a:ext cx="25603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Authority impersonation</a:t>
            </a:r>
            <a:endParaRPr lang="en-US" sz="1400" dirty="0"/>
          </a:p>
        </p:txBody>
      </p:sp>
      <p:sp>
        <p:nvSpPr>
          <p:cNvPr id="13" name="Text 9"/>
          <p:cNvSpPr/>
          <p:nvPr/>
        </p:nvSpPr>
        <p:spPr>
          <a:xfrm>
            <a:off x="5166360" y="2103120"/>
            <a:ext cx="2560320" cy="777240"/>
          </a:xfrm>
          <a:prstGeom prst="rect">
            <a:avLst/>
          </a:prstGeom>
          <a:noFill/>
          <a:ln/>
        </p:spPr>
        <p:txBody>
          <a:bodyPr wrap="square" lIns="0" tIns="0" rIns="0" bIns="0" rtlCol="0" anchor="ctr"/>
          <a:lstStyle/>
          <a:p>
            <a:pPr indent="0" marL="0">
              <a:buNone/>
            </a:pPr>
            <a:r>
              <a:rPr lang="en-US" sz="1000" dirty="0">
                <a:solidFill>
                  <a:srgbClr val="C7D0DE"/>
                </a:solidFill>
                <a:latin typeface="Calibri" pitchFamily="34" charset="0"/>
                <a:ea typeface="Calibri" pitchFamily="34" charset="-122"/>
                <a:cs typeface="Calibri" pitchFamily="34" charset="-120"/>
              </a:rPr>
              <a:t>Posing as an executive, vendor, or auditor so the target feels unable to question the request.</a:t>
            </a:r>
            <a:endParaRPr lang="en-US" sz="1000" dirty="0"/>
          </a:p>
        </p:txBody>
      </p:sp>
      <p:sp>
        <p:nvSpPr>
          <p:cNvPr id="14" name="Shape 10"/>
          <p:cNvSpPr/>
          <p:nvPr/>
        </p:nvSpPr>
        <p:spPr>
          <a:xfrm>
            <a:off x="8046720" y="1600200"/>
            <a:ext cx="3566160" cy="1417320"/>
          </a:xfrm>
          <a:prstGeom prst="roundRect">
            <a:avLst>
              <a:gd name="adj" fmla="val 5161"/>
            </a:avLst>
          </a:prstGeom>
          <a:solidFill>
            <a:srgbClr val="1F2E4D"/>
          </a:solidFill>
          <a:ln/>
        </p:spPr>
      </p:sp>
      <p:sp>
        <p:nvSpPr>
          <p:cNvPr id="15" name="Shape 11"/>
          <p:cNvSpPr/>
          <p:nvPr/>
        </p:nvSpPr>
        <p:spPr>
          <a:xfrm>
            <a:off x="8229600" y="1783080"/>
            <a:ext cx="548640" cy="548640"/>
          </a:xfrm>
          <a:prstGeom prst="ellipse">
            <a:avLst/>
          </a:prstGeom>
          <a:solidFill>
            <a:srgbClr val="D7263D"/>
          </a:solidFill>
          <a:ln/>
        </p:spPr>
      </p:sp>
      <p:pic>
        <p:nvPicPr>
          <p:cNvPr id="16" name="Image 2" descr="preencoded.png">    </p:cNvPr>
          <p:cNvPicPr>
            <a:picLocks noChangeAspect="1"/>
          </p:cNvPicPr>
          <p:nvPr/>
        </p:nvPicPr>
        <p:blipFill>
          <a:blip r:embed="rId3"/>
          <a:stretch>
            <a:fillRect/>
          </a:stretch>
        </p:blipFill>
        <p:spPr>
          <a:xfrm>
            <a:off x="8357616" y="1911096"/>
            <a:ext cx="292608" cy="292608"/>
          </a:xfrm>
          <a:prstGeom prst="rect">
            <a:avLst/>
          </a:prstGeom>
        </p:spPr>
      </p:pic>
      <p:sp>
        <p:nvSpPr>
          <p:cNvPr id="17" name="Text 12"/>
          <p:cNvSpPr/>
          <p:nvPr/>
        </p:nvSpPr>
        <p:spPr>
          <a:xfrm>
            <a:off x="8915400" y="1737360"/>
            <a:ext cx="25603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Urgency &amp; scarcity</a:t>
            </a:r>
            <a:endParaRPr lang="en-US" sz="1400" dirty="0"/>
          </a:p>
        </p:txBody>
      </p:sp>
      <p:sp>
        <p:nvSpPr>
          <p:cNvPr id="18" name="Text 13"/>
          <p:cNvSpPr/>
          <p:nvPr/>
        </p:nvSpPr>
        <p:spPr>
          <a:xfrm>
            <a:off x="8915400" y="2103120"/>
            <a:ext cx="2560320" cy="777240"/>
          </a:xfrm>
          <a:prstGeom prst="rect">
            <a:avLst/>
          </a:prstGeom>
          <a:noFill/>
          <a:ln/>
        </p:spPr>
        <p:txBody>
          <a:bodyPr wrap="square" lIns="0" tIns="0" rIns="0" bIns="0" rtlCol="0" anchor="ctr"/>
          <a:lstStyle/>
          <a:p>
            <a:pPr indent="0" marL="0">
              <a:buNone/>
            </a:pPr>
            <a:r>
              <a:rPr lang="en-US" sz="1000" dirty="0">
                <a:solidFill>
                  <a:srgbClr val="C7D0DE"/>
                </a:solidFill>
                <a:latin typeface="Calibri" pitchFamily="34" charset="0"/>
                <a:ea typeface="Calibri" pitchFamily="34" charset="-122"/>
                <a:cs typeface="Calibri" pitchFamily="34" charset="-120"/>
              </a:rPr>
              <a:t>"Wire this today or we lose the deal" — pressure that discourages verification.</a:t>
            </a:r>
            <a:endParaRPr lang="en-US" sz="1000" dirty="0"/>
          </a:p>
        </p:txBody>
      </p:sp>
      <p:sp>
        <p:nvSpPr>
          <p:cNvPr id="19" name="Shape 14"/>
          <p:cNvSpPr/>
          <p:nvPr/>
        </p:nvSpPr>
        <p:spPr>
          <a:xfrm>
            <a:off x="548640" y="3200400"/>
            <a:ext cx="3566160" cy="1417320"/>
          </a:xfrm>
          <a:prstGeom prst="roundRect">
            <a:avLst>
              <a:gd name="adj" fmla="val 5161"/>
            </a:avLst>
          </a:prstGeom>
          <a:solidFill>
            <a:srgbClr val="1F2E4D"/>
          </a:solidFill>
          <a:ln/>
        </p:spPr>
      </p:sp>
      <p:sp>
        <p:nvSpPr>
          <p:cNvPr id="20" name="Shape 15"/>
          <p:cNvSpPr/>
          <p:nvPr/>
        </p:nvSpPr>
        <p:spPr>
          <a:xfrm>
            <a:off x="731520" y="3383280"/>
            <a:ext cx="548640" cy="548640"/>
          </a:xfrm>
          <a:prstGeom prst="ellipse">
            <a:avLst/>
          </a:prstGeom>
          <a:solidFill>
            <a:srgbClr val="D7263D"/>
          </a:solidFill>
          <a:ln/>
        </p:spPr>
      </p:sp>
      <p:pic>
        <p:nvPicPr>
          <p:cNvPr id="21" name="Image 3" descr="preencoded.png">    </p:cNvPr>
          <p:cNvPicPr>
            <a:picLocks noChangeAspect="1"/>
          </p:cNvPicPr>
          <p:nvPr/>
        </p:nvPicPr>
        <p:blipFill>
          <a:blip r:embed="rId4"/>
          <a:stretch>
            <a:fillRect/>
          </a:stretch>
        </p:blipFill>
        <p:spPr>
          <a:xfrm>
            <a:off x="859536" y="3511296"/>
            <a:ext cx="292608" cy="292608"/>
          </a:xfrm>
          <a:prstGeom prst="rect">
            <a:avLst/>
          </a:prstGeom>
        </p:spPr>
      </p:pic>
      <p:sp>
        <p:nvSpPr>
          <p:cNvPr id="22" name="Text 16"/>
          <p:cNvSpPr/>
          <p:nvPr/>
        </p:nvSpPr>
        <p:spPr>
          <a:xfrm>
            <a:off x="1417320" y="3337560"/>
            <a:ext cx="25603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Baiting</a:t>
            </a:r>
            <a:endParaRPr lang="en-US" sz="1400" dirty="0"/>
          </a:p>
        </p:txBody>
      </p:sp>
      <p:sp>
        <p:nvSpPr>
          <p:cNvPr id="23" name="Text 17"/>
          <p:cNvSpPr/>
          <p:nvPr/>
        </p:nvSpPr>
        <p:spPr>
          <a:xfrm>
            <a:off x="1417320" y="3703320"/>
            <a:ext cx="2560320" cy="777240"/>
          </a:xfrm>
          <a:prstGeom prst="rect">
            <a:avLst/>
          </a:prstGeom>
          <a:noFill/>
          <a:ln/>
        </p:spPr>
        <p:txBody>
          <a:bodyPr wrap="square" lIns="0" tIns="0" rIns="0" bIns="0" rtlCol="0" anchor="ctr"/>
          <a:lstStyle/>
          <a:p>
            <a:pPr indent="0" marL="0">
              <a:buNone/>
            </a:pPr>
            <a:r>
              <a:rPr lang="en-US" sz="1000" dirty="0">
                <a:solidFill>
                  <a:srgbClr val="C7D0DE"/>
                </a:solidFill>
                <a:latin typeface="Calibri" pitchFamily="34" charset="0"/>
                <a:ea typeface="Calibri" pitchFamily="34" charset="-122"/>
                <a:cs typeface="Calibri" pitchFamily="34" charset="-120"/>
              </a:rPr>
              <a:t>Dangling something enticing — a gift card, a free download, a job offer — to prompt a click.</a:t>
            </a:r>
            <a:endParaRPr lang="en-US" sz="1000" dirty="0"/>
          </a:p>
        </p:txBody>
      </p:sp>
      <p:sp>
        <p:nvSpPr>
          <p:cNvPr id="24" name="Shape 18"/>
          <p:cNvSpPr/>
          <p:nvPr/>
        </p:nvSpPr>
        <p:spPr>
          <a:xfrm>
            <a:off x="4297680" y="3200400"/>
            <a:ext cx="3566160" cy="1417320"/>
          </a:xfrm>
          <a:prstGeom prst="roundRect">
            <a:avLst>
              <a:gd name="adj" fmla="val 5161"/>
            </a:avLst>
          </a:prstGeom>
          <a:solidFill>
            <a:srgbClr val="1F2E4D"/>
          </a:solidFill>
          <a:ln/>
        </p:spPr>
      </p:sp>
      <p:sp>
        <p:nvSpPr>
          <p:cNvPr id="25" name="Shape 19"/>
          <p:cNvSpPr/>
          <p:nvPr/>
        </p:nvSpPr>
        <p:spPr>
          <a:xfrm>
            <a:off x="4480560" y="3383280"/>
            <a:ext cx="548640" cy="548640"/>
          </a:xfrm>
          <a:prstGeom prst="ellipse">
            <a:avLst/>
          </a:prstGeom>
          <a:solidFill>
            <a:srgbClr val="D7263D"/>
          </a:solidFill>
          <a:ln/>
        </p:spPr>
      </p:sp>
      <p:pic>
        <p:nvPicPr>
          <p:cNvPr id="26" name="Image 4" descr="preencoded.png">    </p:cNvPr>
          <p:cNvPicPr>
            <a:picLocks noChangeAspect="1"/>
          </p:cNvPicPr>
          <p:nvPr/>
        </p:nvPicPr>
        <p:blipFill>
          <a:blip r:embed="rId5"/>
          <a:stretch>
            <a:fillRect/>
          </a:stretch>
        </p:blipFill>
        <p:spPr>
          <a:xfrm>
            <a:off x="4608576" y="3511296"/>
            <a:ext cx="292608" cy="292608"/>
          </a:xfrm>
          <a:prstGeom prst="rect">
            <a:avLst/>
          </a:prstGeom>
        </p:spPr>
      </p:pic>
      <p:sp>
        <p:nvSpPr>
          <p:cNvPr id="27" name="Text 20"/>
          <p:cNvSpPr/>
          <p:nvPr/>
        </p:nvSpPr>
        <p:spPr>
          <a:xfrm>
            <a:off x="5166360" y="3337560"/>
            <a:ext cx="25603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Quid pro quo</a:t>
            </a:r>
            <a:endParaRPr lang="en-US" sz="1400" dirty="0"/>
          </a:p>
        </p:txBody>
      </p:sp>
      <p:sp>
        <p:nvSpPr>
          <p:cNvPr id="28" name="Text 21"/>
          <p:cNvSpPr/>
          <p:nvPr/>
        </p:nvSpPr>
        <p:spPr>
          <a:xfrm>
            <a:off x="5166360" y="3703320"/>
            <a:ext cx="2560320" cy="777240"/>
          </a:xfrm>
          <a:prstGeom prst="rect">
            <a:avLst/>
          </a:prstGeom>
          <a:noFill/>
          <a:ln/>
        </p:spPr>
        <p:txBody>
          <a:bodyPr wrap="square" lIns="0" tIns="0" rIns="0" bIns="0" rtlCol="0" anchor="ctr"/>
          <a:lstStyle/>
          <a:p>
            <a:pPr indent="0" marL="0">
              <a:buNone/>
            </a:pPr>
            <a:r>
              <a:rPr lang="en-US" sz="1000" dirty="0">
                <a:solidFill>
                  <a:srgbClr val="C7D0DE"/>
                </a:solidFill>
                <a:latin typeface="Calibri" pitchFamily="34" charset="0"/>
                <a:ea typeface="Calibri" pitchFamily="34" charset="-122"/>
                <a:cs typeface="Calibri" pitchFamily="34" charset="-120"/>
              </a:rPr>
              <a:t>Offering a service or favor ("free tech support") in exchange for credentials or access.</a:t>
            </a:r>
            <a:endParaRPr lang="en-US" sz="1000" dirty="0"/>
          </a:p>
        </p:txBody>
      </p:sp>
      <p:sp>
        <p:nvSpPr>
          <p:cNvPr id="29" name="Shape 22"/>
          <p:cNvSpPr/>
          <p:nvPr/>
        </p:nvSpPr>
        <p:spPr>
          <a:xfrm>
            <a:off x="8046720" y="3200400"/>
            <a:ext cx="3566160" cy="1417320"/>
          </a:xfrm>
          <a:prstGeom prst="roundRect">
            <a:avLst>
              <a:gd name="adj" fmla="val 5161"/>
            </a:avLst>
          </a:prstGeom>
          <a:solidFill>
            <a:srgbClr val="1F2E4D"/>
          </a:solidFill>
          <a:ln/>
        </p:spPr>
      </p:sp>
      <p:sp>
        <p:nvSpPr>
          <p:cNvPr id="30" name="Shape 23"/>
          <p:cNvSpPr/>
          <p:nvPr/>
        </p:nvSpPr>
        <p:spPr>
          <a:xfrm>
            <a:off x="8229600" y="3383280"/>
            <a:ext cx="548640" cy="548640"/>
          </a:xfrm>
          <a:prstGeom prst="ellipse">
            <a:avLst/>
          </a:prstGeom>
          <a:solidFill>
            <a:srgbClr val="D7263D"/>
          </a:solidFill>
          <a:ln/>
        </p:spPr>
      </p:sp>
      <p:pic>
        <p:nvPicPr>
          <p:cNvPr id="31" name="Image 5" descr="preencoded.png">    </p:cNvPr>
          <p:cNvPicPr>
            <a:picLocks noChangeAspect="1"/>
          </p:cNvPicPr>
          <p:nvPr/>
        </p:nvPicPr>
        <p:blipFill>
          <a:blip r:embed="rId6"/>
          <a:stretch>
            <a:fillRect/>
          </a:stretch>
        </p:blipFill>
        <p:spPr>
          <a:xfrm>
            <a:off x="8357616" y="3511296"/>
            <a:ext cx="292608" cy="292608"/>
          </a:xfrm>
          <a:prstGeom prst="rect">
            <a:avLst/>
          </a:prstGeom>
        </p:spPr>
      </p:pic>
      <p:sp>
        <p:nvSpPr>
          <p:cNvPr id="32" name="Text 24"/>
          <p:cNvSpPr/>
          <p:nvPr/>
        </p:nvSpPr>
        <p:spPr>
          <a:xfrm>
            <a:off x="8915400" y="3337560"/>
            <a:ext cx="25603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Tailgating</a:t>
            </a:r>
            <a:endParaRPr lang="en-US" sz="1400" dirty="0"/>
          </a:p>
        </p:txBody>
      </p:sp>
      <p:sp>
        <p:nvSpPr>
          <p:cNvPr id="33" name="Text 25"/>
          <p:cNvSpPr/>
          <p:nvPr/>
        </p:nvSpPr>
        <p:spPr>
          <a:xfrm>
            <a:off x="8915400" y="3703320"/>
            <a:ext cx="2560320" cy="777240"/>
          </a:xfrm>
          <a:prstGeom prst="rect">
            <a:avLst/>
          </a:prstGeom>
          <a:noFill/>
          <a:ln/>
        </p:spPr>
        <p:txBody>
          <a:bodyPr wrap="square" lIns="0" tIns="0" rIns="0" bIns="0" rtlCol="0" anchor="ctr"/>
          <a:lstStyle/>
          <a:p>
            <a:pPr indent="0" marL="0">
              <a:buNone/>
            </a:pPr>
            <a:r>
              <a:rPr lang="en-US" sz="1000" dirty="0">
                <a:solidFill>
                  <a:srgbClr val="C7D0DE"/>
                </a:solidFill>
                <a:latin typeface="Calibri" pitchFamily="34" charset="0"/>
                <a:ea typeface="Calibri" pitchFamily="34" charset="-122"/>
                <a:cs typeface="Calibri" pitchFamily="34" charset="-120"/>
              </a:rPr>
              <a:t>Following an employee through a secure door or into a video call using a false sense of belonging.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365760"/>
            <a:ext cx="914400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Best Practices: Before You Click</a:t>
            </a:r>
            <a:endParaRPr lang="en-US" sz="3000" dirty="0"/>
          </a:p>
        </p:txBody>
      </p:sp>
      <p:sp>
        <p:nvSpPr>
          <p:cNvPr id="3" name="Text 1"/>
          <p:cNvSpPr/>
          <p:nvPr/>
        </p:nvSpPr>
        <p:spPr>
          <a:xfrm>
            <a:off x="548640" y="914400"/>
            <a:ext cx="9144000" cy="365760"/>
          </a:xfrm>
          <a:prstGeom prst="rect">
            <a:avLst/>
          </a:prstGeom>
          <a:noFill/>
          <a:ln/>
        </p:spPr>
        <p:txBody>
          <a:bodyPr wrap="square" lIns="0" tIns="0" rIns="0" bIns="0" rtlCol="0" anchor="ctr"/>
          <a:lstStyle/>
          <a:p>
            <a:pPr indent="0" marL="0">
              <a:buNone/>
            </a:pPr>
            <a:r>
              <a:rPr lang="en-US" sz="1300" dirty="0">
                <a:solidFill>
                  <a:srgbClr val="6B7686"/>
                </a:solidFill>
                <a:latin typeface="Calibri" pitchFamily="34" charset="0"/>
                <a:ea typeface="Calibri" pitchFamily="34" charset="-122"/>
                <a:cs typeface="Calibri" pitchFamily="34" charset="-120"/>
              </a:rPr>
              <a:t>A simple habit loop that stops the vast majority of phishing attempts.</a:t>
            </a:r>
            <a:endParaRPr lang="en-US" sz="1300" dirty="0"/>
          </a:p>
        </p:txBody>
      </p:sp>
      <p:sp>
        <p:nvSpPr>
          <p:cNvPr id="4" name="Shape 2"/>
          <p:cNvSpPr/>
          <p:nvPr/>
        </p:nvSpPr>
        <p:spPr>
          <a:xfrm>
            <a:off x="548640" y="1508760"/>
            <a:ext cx="5349240" cy="777240"/>
          </a:xfrm>
          <a:prstGeom prst="roundRect">
            <a:avLst>
              <a:gd name="adj" fmla="val 8235"/>
            </a:avLst>
          </a:prstGeom>
          <a:solidFill>
            <a:srgbClr val="FFFFFF"/>
          </a:solidFill>
          <a:ln/>
          <a:effectLst>
            <a:outerShdw sx="100000" sy="100000" kx="0" ky="0" algn="bl" rotWithShape="0" blurRad="101600" dist="38100" dir="2700000">
              <a:srgbClr val="000000">
                <a:alpha val="12000"/>
              </a:srgbClr>
            </a:outerShdw>
          </a:effectLst>
        </p:spPr>
      </p:sp>
      <p:pic>
        <p:nvPicPr>
          <p:cNvPr id="5" name="Image 0" descr="preencoded.png">    </p:cNvPr>
          <p:cNvPicPr>
            <a:picLocks noChangeAspect="1"/>
          </p:cNvPicPr>
          <p:nvPr/>
        </p:nvPicPr>
        <p:blipFill>
          <a:blip r:embed="rId1"/>
          <a:stretch>
            <a:fillRect/>
          </a:stretch>
        </p:blipFill>
        <p:spPr>
          <a:xfrm>
            <a:off x="731520" y="1728216"/>
            <a:ext cx="347472" cy="347472"/>
          </a:xfrm>
          <a:prstGeom prst="rect">
            <a:avLst/>
          </a:prstGeom>
        </p:spPr>
      </p:pic>
      <p:sp>
        <p:nvSpPr>
          <p:cNvPr id="6" name="Text 3"/>
          <p:cNvSpPr/>
          <p:nvPr/>
        </p:nvSpPr>
        <p:spPr>
          <a:xfrm>
            <a:off x="1234440" y="1581912"/>
            <a:ext cx="4480560" cy="630936"/>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Pause on urgency. Any message demanding immediate action is a reason to slow down, not speed up.</a:t>
            </a:r>
            <a:endParaRPr lang="en-US" sz="1150" dirty="0"/>
          </a:p>
        </p:txBody>
      </p:sp>
      <p:sp>
        <p:nvSpPr>
          <p:cNvPr id="7" name="Shape 4"/>
          <p:cNvSpPr/>
          <p:nvPr/>
        </p:nvSpPr>
        <p:spPr>
          <a:xfrm>
            <a:off x="6263640" y="1508760"/>
            <a:ext cx="5349240" cy="777240"/>
          </a:xfrm>
          <a:prstGeom prst="roundRect">
            <a:avLst>
              <a:gd name="adj" fmla="val 8235"/>
            </a:avLst>
          </a:prstGeom>
          <a:solidFill>
            <a:srgbClr val="FFFFFF"/>
          </a:solidFill>
          <a:ln/>
          <a:effectLst>
            <a:outerShdw sx="100000" sy="100000" kx="0" ky="0" algn="bl" rotWithShape="0" blurRad="101600" dist="38100" dir="27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6446520" y="1728216"/>
            <a:ext cx="347472" cy="347472"/>
          </a:xfrm>
          <a:prstGeom prst="rect">
            <a:avLst/>
          </a:prstGeom>
        </p:spPr>
      </p:pic>
      <p:sp>
        <p:nvSpPr>
          <p:cNvPr id="9" name="Text 5"/>
          <p:cNvSpPr/>
          <p:nvPr/>
        </p:nvSpPr>
        <p:spPr>
          <a:xfrm>
            <a:off x="6949440" y="1581912"/>
            <a:ext cx="4480560" cy="630936"/>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Verify through a second channel. Call the person or vendor using a known number — never one from the email itself.</a:t>
            </a:r>
            <a:endParaRPr lang="en-US" sz="1150" dirty="0"/>
          </a:p>
        </p:txBody>
      </p:sp>
      <p:sp>
        <p:nvSpPr>
          <p:cNvPr id="10" name="Shape 6"/>
          <p:cNvSpPr/>
          <p:nvPr/>
        </p:nvSpPr>
        <p:spPr>
          <a:xfrm>
            <a:off x="548640" y="2423160"/>
            <a:ext cx="5349240" cy="777240"/>
          </a:xfrm>
          <a:prstGeom prst="roundRect">
            <a:avLst>
              <a:gd name="adj" fmla="val 8235"/>
            </a:avLst>
          </a:prstGeom>
          <a:solidFill>
            <a:srgbClr val="FFFFFF"/>
          </a:solidFill>
          <a:ln/>
          <a:effectLst>
            <a:outerShdw sx="100000" sy="100000" kx="0" ky="0" algn="bl" rotWithShape="0" blurRad="101600" dist="38100" dir="2700000">
              <a:srgbClr val="000000">
                <a:alpha val="12000"/>
              </a:srgbClr>
            </a:outerShdw>
          </a:effectLst>
        </p:spPr>
      </p:sp>
      <p:pic>
        <p:nvPicPr>
          <p:cNvPr id="11" name="Image 2" descr="preencoded.png">    </p:cNvPr>
          <p:cNvPicPr>
            <a:picLocks noChangeAspect="1"/>
          </p:cNvPicPr>
          <p:nvPr/>
        </p:nvPicPr>
        <p:blipFill>
          <a:blip r:embed="rId3"/>
          <a:stretch>
            <a:fillRect/>
          </a:stretch>
        </p:blipFill>
        <p:spPr>
          <a:xfrm>
            <a:off x="731520" y="2642616"/>
            <a:ext cx="347472" cy="347472"/>
          </a:xfrm>
          <a:prstGeom prst="rect">
            <a:avLst/>
          </a:prstGeom>
        </p:spPr>
      </p:pic>
      <p:sp>
        <p:nvSpPr>
          <p:cNvPr id="12" name="Text 7"/>
          <p:cNvSpPr/>
          <p:nvPr/>
        </p:nvSpPr>
        <p:spPr>
          <a:xfrm>
            <a:off x="1234440" y="2496312"/>
            <a:ext cx="4480560" cy="630936"/>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Hover before you click. Preview the real destination URL; if it doesn't match the claimed sender, stop.</a:t>
            </a:r>
            <a:endParaRPr lang="en-US" sz="1150" dirty="0"/>
          </a:p>
        </p:txBody>
      </p:sp>
      <p:sp>
        <p:nvSpPr>
          <p:cNvPr id="13" name="Shape 8"/>
          <p:cNvSpPr/>
          <p:nvPr/>
        </p:nvSpPr>
        <p:spPr>
          <a:xfrm>
            <a:off x="6263640" y="2423160"/>
            <a:ext cx="5349240" cy="777240"/>
          </a:xfrm>
          <a:prstGeom prst="roundRect">
            <a:avLst>
              <a:gd name="adj" fmla="val 8235"/>
            </a:avLst>
          </a:prstGeom>
          <a:solidFill>
            <a:srgbClr val="FFFFFF"/>
          </a:solidFill>
          <a:ln/>
          <a:effectLst>
            <a:outerShdw sx="100000" sy="100000" kx="0" ky="0" algn="bl" rotWithShape="0" blurRad="101600" dist="38100" dir="2700000">
              <a:srgbClr val="000000">
                <a:alpha val="12000"/>
              </a:srgbClr>
            </a:outerShdw>
          </a:effectLst>
        </p:spPr>
      </p:sp>
      <p:pic>
        <p:nvPicPr>
          <p:cNvPr id="14" name="Image 3" descr="preencoded.png">    </p:cNvPr>
          <p:cNvPicPr>
            <a:picLocks noChangeAspect="1"/>
          </p:cNvPicPr>
          <p:nvPr/>
        </p:nvPicPr>
        <p:blipFill>
          <a:blip r:embed="rId4"/>
          <a:stretch>
            <a:fillRect/>
          </a:stretch>
        </p:blipFill>
        <p:spPr>
          <a:xfrm>
            <a:off x="6446520" y="2642616"/>
            <a:ext cx="347472" cy="347472"/>
          </a:xfrm>
          <a:prstGeom prst="rect">
            <a:avLst/>
          </a:prstGeom>
        </p:spPr>
      </p:pic>
      <p:sp>
        <p:nvSpPr>
          <p:cNvPr id="15" name="Text 9"/>
          <p:cNvSpPr/>
          <p:nvPr/>
        </p:nvSpPr>
        <p:spPr>
          <a:xfrm>
            <a:off x="6949440" y="2496312"/>
            <a:ext cx="4480560" cy="630936"/>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Check the sender's real address. Not just the display name — expand it and read the full domain.</a:t>
            </a:r>
            <a:endParaRPr lang="en-US" sz="1150" dirty="0"/>
          </a:p>
        </p:txBody>
      </p:sp>
      <p:sp>
        <p:nvSpPr>
          <p:cNvPr id="16" name="Shape 10"/>
          <p:cNvSpPr/>
          <p:nvPr/>
        </p:nvSpPr>
        <p:spPr>
          <a:xfrm>
            <a:off x="548640" y="3337560"/>
            <a:ext cx="5349240" cy="777240"/>
          </a:xfrm>
          <a:prstGeom prst="roundRect">
            <a:avLst>
              <a:gd name="adj" fmla="val 8235"/>
            </a:avLst>
          </a:prstGeom>
          <a:solidFill>
            <a:srgbClr val="FFFFFF"/>
          </a:solidFill>
          <a:ln/>
          <a:effectLst>
            <a:outerShdw sx="100000" sy="100000" kx="0" ky="0" algn="bl" rotWithShape="0" blurRad="101600" dist="38100" dir="2700000">
              <a:srgbClr val="000000">
                <a:alpha val="12000"/>
              </a:srgbClr>
            </a:outerShdw>
          </a:effectLst>
        </p:spPr>
      </p:sp>
      <p:pic>
        <p:nvPicPr>
          <p:cNvPr id="17" name="Image 4" descr="preencoded.png">    </p:cNvPr>
          <p:cNvPicPr>
            <a:picLocks noChangeAspect="1"/>
          </p:cNvPicPr>
          <p:nvPr/>
        </p:nvPicPr>
        <p:blipFill>
          <a:blip r:embed="rId5"/>
          <a:stretch>
            <a:fillRect/>
          </a:stretch>
        </p:blipFill>
        <p:spPr>
          <a:xfrm>
            <a:off x="731520" y="3557016"/>
            <a:ext cx="347472" cy="347472"/>
          </a:xfrm>
          <a:prstGeom prst="rect">
            <a:avLst/>
          </a:prstGeom>
        </p:spPr>
      </p:pic>
      <p:sp>
        <p:nvSpPr>
          <p:cNvPr id="18" name="Text 11"/>
          <p:cNvSpPr/>
          <p:nvPr/>
        </p:nvSpPr>
        <p:spPr>
          <a:xfrm>
            <a:off x="1234440" y="3410712"/>
            <a:ext cx="4480560" cy="630936"/>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Enable multi-factor authentication. It won't stop every attack, but it stops most stolen-password attempts cold.</a:t>
            </a:r>
            <a:endParaRPr lang="en-US" sz="1150" dirty="0"/>
          </a:p>
        </p:txBody>
      </p:sp>
      <p:sp>
        <p:nvSpPr>
          <p:cNvPr id="19" name="Shape 12"/>
          <p:cNvSpPr/>
          <p:nvPr/>
        </p:nvSpPr>
        <p:spPr>
          <a:xfrm>
            <a:off x="6263640" y="3337560"/>
            <a:ext cx="5349240" cy="777240"/>
          </a:xfrm>
          <a:prstGeom prst="roundRect">
            <a:avLst>
              <a:gd name="adj" fmla="val 8235"/>
            </a:avLst>
          </a:prstGeom>
          <a:solidFill>
            <a:srgbClr val="FFFFFF"/>
          </a:solidFill>
          <a:ln/>
          <a:effectLst>
            <a:outerShdw sx="100000" sy="100000" kx="0" ky="0" algn="bl" rotWithShape="0" blurRad="101600" dist="38100" dir="2700000">
              <a:srgbClr val="000000">
                <a:alpha val="12000"/>
              </a:srgbClr>
            </a:outerShdw>
          </a:effectLst>
        </p:spPr>
      </p:sp>
      <p:pic>
        <p:nvPicPr>
          <p:cNvPr id="20" name="Image 5" descr="preencoded.png">    </p:cNvPr>
          <p:cNvPicPr>
            <a:picLocks noChangeAspect="1"/>
          </p:cNvPicPr>
          <p:nvPr/>
        </p:nvPicPr>
        <p:blipFill>
          <a:blip r:embed="rId6"/>
          <a:stretch>
            <a:fillRect/>
          </a:stretch>
        </p:blipFill>
        <p:spPr>
          <a:xfrm>
            <a:off x="6446520" y="3557016"/>
            <a:ext cx="347472" cy="347472"/>
          </a:xfrm>
          <a:prstGeom prst="rect">
            <a:avLst/>
          </a:prstGeom>
        </p:spPr>
      </p:pic>
      <p:sp>
        <p:nvSpPr>
          <p:cNvPr id="21" name="Text 13"/>
          <p:cNvSpPr/>
          <p:nvPr/>
        </p:nvSpPr>
        <p:spPr>
          <a:xfrm>
            <a:off x="6949440" y="3410712"/>
            <a:ext cx="4480560" cy="630936"/>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Report, don't just delete. Forwarding suspicious emails to security helps block the campaign for everyone else.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9601200" y="-1371600"/>
            <a:ext cx="4572000" cy="4572000"/>
          </a:xfrm>
          <a:prstGeom prst="ellipse">
            <a:avLst/>
          </a:prstGeom>
          <a:solidFill>
            <a:srgbClr val="D7263D">
              <a:alpha val="12000"/>
            </a:srgbClr>
          </a:solidFill>
          <a:ln/>
        </p:spPr>
      </p:sp>
      <p:sp>
        <p:nvSpPr>
          <p:cNvPr id="3" name="Text 1"/>
          <p:cNvSpPr/>
          <p:nvPr/>
        </p:nvSpPr>
        <p:spPr>
          <a:xfrm>
            <a:off x="548640" y="457200"/>
            <a:ext cx="4572000" cy="365760"/>
          </a:xfrm>
          <a:prstGeom prst="rect">
            <a:avLst/>
          </a:prstGeom>
          <a:noFill/>
          <a:ln/>
        </p:spPr>
        <p:txBody>
          <a:bodyPr wrap="square" lIns="0" tIns="0" rIns="0" bIns="0" rtlCol="0" anchor="ctr"/>
          <a:lstStyle/>
          <a:p>
            <a:pPr indent="0" marL="0">
              <a:buNone/>
            </a:pPr>
            <a:r>
              <a:rPr lang="en-US" sz="1300" b="1" spc="200" kern="0" dirty="0">
                <a:solidFill>
                  <a:srgbClr val="D7263D"/>
                </a:solidFill>
                <a:latin typeface="Calibri" pitchFamily="34" charset="0"/>
                <a:ea typeface="Calibri" pitchFamily="34" charset="-122"/>
                <a:cs typeface="Calibri" pitchFamily="34" charset="-120"/>
              </a:rPr>
              <a:t>CASE STUDY</a:t>
            </a:r>
            <a:endParaRPr lang="en-US" sz="1300" dirty="0"/>
          </a:p>
        </p:txBody>
      </p:sp>
      <p:sp>
        <p:nvSpPr>
          <p:cNvPr id="4" name="Text 2"/>
          <p:cNvSpPr/>
          <p:nvPr/>
        </p:nvSpPr>
        <p:spPr>
          <a:xfrm>
            <a:off x="548640" y="777240"/>
            <a:ext cx="822960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$120M Fake-Vendor Invoice Scam</a:t>
            </a:r>
            <a:endParaRPr lang="en-US" sz="2800" dirty="0"/>
          </a:p>
        </p:txBody>
      </p:sp>
      <p:pic>
        <p:nvPicPr>
          <p:cNvPr id="5" name="Image 0" descr="preencoded.png">    </p:cNvPr>
          <p:cNvPicPr>
            <a:picLocks noChangeAspect="1"/>
          </p:cNvPicPr>
          <p:nvPr/>
        </p:nvPicPr>
        <p:blipFill>
          <a:blip r:embed="rId1"/>
          <a:stretch>
            <a:fillRect/>
          </a:stretch>
        </p:blipFill>
        <p:spPr>
          <a:xfrm>
            <a:off x="9692640" y="914400"/>
            <a:ext cx="1463040" cy="1463040"/>
          </a:xfrm>
          <a:prstGeom prst="rect">
            <a:avLst/>
          </a:prstGeom>
        </p:spPr>
      </p:pic>
      <p:sp>
        <p:nvSpPr>
          <p:cNvPr id="6" name="Text 3"/>
          <p:cNvSpPr/>
          <p:nvPr/>
        </p:nvSpPr>
        <p:spPr>
          <a:xfrm>
            <a:off x="548640" y="1874520"/>
            <a:ext cx="7589520" cy="1554480"/>
          </a:xfrm>
          <a:prstGeom prst="rect">
            <a:avLst/>
          </a:prstGeom>
          <a:noFill/>
          <a:ln/>
        </p:spPr>
        <p:txBody>
          <a:bodyPr wrap="square" lIns="0" tIns="0" rIns="0" bIns="0" rtlCol="0" anchor="ctr"/>
          <a:lstStyle/>
          <a:p>
            <a:pPr indent="0" marL="0">
              <a:buNone/>
            </a:pPr>
            <a:r>
              <a:rPr lang="en-US" sz="1350" dirty="0">
                <a:solidFill>
                  <a:srgbClr val="E4E8F0"/>
                </a:solidFill>
                <a:latin typeface="Calibri" pitchFamily="34" charset="0"/>
                <a:ea typeface="Calibri" pitchFamily="34" charset="-122"/>
                <a:cs typeface="Calibri" pitchFamily="34" charset="-120"/>
              </a:rPr>
              <a:t>Between 2013 and 2015, a Lithuanian man named Evaldas Rimasauskas ran a business email compromise scheme against two of the world's largest tech companies. </a:t>
            </a:r>
            <a:endParaRPr lang="en-US" sz="1350" dirty="0"/>
          </a:p>
          <a:p>
            <a:pPr indent="0" marL="0">
              <a:buNone/>
            </a:pPr>
            <a:r>
              <a:rPr lang="en-US" sz="1350" dirty="0">
                <a:solidFill>
                  <a:srgbClr val="E4E8F0"/>
                </a:solidFill>
                <a:latin typeface="Calibri" pitchFamily="34" charset="0"/>
                <a:ea typeface="Calibri" pitchFamily="34" charset="-122"/>
                <a:cs typeface="Calibri" pitchFamily="34" charset="-120"/>
              </a:rPr>
              <a:t>He registered a company with the same name as a real Asian hardware supplier both firms used, then sent forged invoices, contracts, and letters through email accounts designed to look like they came from that supplier's real employees.</a:t>
            </a:r>
            <a:endParaRPr lang="en-US" sz="1350" dirty="0"/>
          </a:p>
        </p:txBody>
      </p:sp>
      <p:sp>
        <p:nvSpPr>
          <p:cNvPr id="7" name="Shape 4"/>
          <p:cNvSpPr/>
          <p:nvPr/>
        </p:nvSpPr>
        <p:spPr>
          <a:xfrm>
            <a:off x="548640" y="3611880"/>
            <a:ext cx="7680960" cy="1280160"/>
          </a:xfrm>
          <a:prstGeom prst="roundRect">
            <a:avLst>
              <a:gd name="adj" fmla="val 5714"/>
            </a:avLst>
          </a:prstGeom>
          <a:solidFill>
            <a:srgbClr val="1F2E4D"/>
          </a:solidFill>
          <a:ln/>
        </p:spPr>
      </p:sp>
      <p:sp>
        <p:nvSpPr>
          <p:cNvPr id="8" name="Text 5"/>
          <p:cNvSpPr/>
          <p:nvPr/>
        </p:nvSpPr>
        <p:spPr>
          <a:xfrm>
            <a:off x="777240" y="3749040"/>
            <a:ext cx="7223760" cy="1005840"/>
          </a:xfrm>
          <a:prstGeom prst="rect">
            <a:avLst/>
          </a:prstGeom>
          <a:noFill/>
          <a:ln/>
        </p:spPr>
        <p:txBody>
          <a:bodyPr wrap="square" lIns="0" tIns="0" rIns="0" bIns="0" rtlCol="0" anchor="ctr"/>
          <a:lstStyle/>
          <a:p>
            <a:pPr indent="0" marL="0">
              <a:buNone/>
            </a:pPr>
            <a:r>
              <a:rPr lang="en-US" sz="1250" b="1" dirty="0">
                <a:solidFill>
                  <a:srgbClr val="D7263D"/>
                </a:solidFill>
                <a:latin typeface="Calibri" pitchFamily="34" charset="0"/>
                <a:ea typeface="Calibri" pitchFamily="34" charset="-122"/>
                <a:cs typeface="Calibri" pitchFamily="34" charset="-120"/>
              </a:rPr>
              <a:t>Over $100 million </a:t>
            </a:r>
            <a:pPr indent="0" marL="0">
              <a:buNone/>
            </a:pPr>
            <a:r>
              <a:rPr lang="en-US" sz="1250" dirty="0">
                <a:solidFill>
                  <a:srgbClr val="C7D0DE"/>
                </a:solidFill>
                <a:latin typeface="Calibri" pitchFamily="34" charset="0"/>
                <a:ea typeface="Calibri" pitchFamily="34" charset="-122"/>
                <a:cs typeface="Calibri" pitchFamily="34" charset="-120"/>
              </a:rPr>
              <a:t>was wired to the attacker's accounts by finance staff at both companies before the scheme was uncovered and most of the funds were recovered through law enforcement action.</a:t>
            </a:r>
            <a:endParaRPr lang="en-US" sz="1250" dirty="0"/>
          </a:p>
        </p:txBody>
      </p:sp>
      <p:sp>
        <p:nvSpPr>
          <p:cNvPr id="9" name="Text 6"/>
          <p:cNvSpPr/>
          <p:nvPr/>
        </p:nvSpPr>
        <p:spPr>
          <a:xfrm>
            <a:off x="548640" y="5074920"/>
            <a:ext cx="45720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Why it worked</a:t>
            </a:r>
            <a:endParaRPr lang="en-US" sz="1300" dirty="0"/>
          </a:p>
        </p:txBody>
      </p:sp>
      <p:sp>
        <p:nvSpPr>
          <p:cNvPr id="10" name="Text 7"/>
          <p:cNvSpPr/>
          <p:nvPr/>
        </p:nvSpPr>
        <p:spPr>
          <a:xfrm>
            <a:off x="548640" y="5440680"/>
            <a:ext cx="8686800" cy="1188720"/>
          </a:xfrm>
          <a:prstGeom prst="rect">
            <a:avLst/>
          </a:prstGeom>
          <a:noFill/>
          <a:ln/>
        </p:spPr>
        <p:txBody>
          <a:bodyPr wrap="square" lIns="0" tIns="0" rIns="0" bIns="0" rtlCol="0" anchor="ctr"/>
          <a:lstStyle/>
          <a:p>
            <a:pPr marL="342900" indent="-342900">
              <a:buSzPct val="100000"/>
              <a:buChar char="•"/>
            </a:pPr>
            <a:r>
              <a:rPr lang="en-US" sz="1150" dirty="0">
                <a:solidFill>
                  <a:srgbClr val="C7D0DE"/>
                </a:solidFill>
                <a:latin typeface="Calibri" pitchFamily="34" charset="0"/>
                <a:ea typeface="Calibri" pitchFamily="34" charset="-122"/>
                <a:cs typeface="Calibri" pitchFamily="34" charset="-120"/>
              </a:rPr>
              <a:t>Real vendor relationship spoofed, not invented from scratch</a:t>
            </a:r>
            <a:endParaRPr lang="en-US" sz="1150" dirty="0"/>
          </a:p>
          <a:p>
            <a:pPr marL="342900" indent="-342900">
              <a:buSzPct val="100000"/>
              <a:buChar char="•"/>
            </a:pPr>
            <a:r>
              <a:rPr lang="en-US" sz="1150" dirty="0">
                <a:solidFill>
                  <a:srgbClr val="C7D0DE"/>
                </a:solidFill>
                <a:latin typeface="Calibri" pitchFamily="34" charset="0"/>
                <a:ea typeface="Calibri" pitchFamily="34" charset="-122"/>
                <a:cs typeface="Calibri" pitchFamily="34" charset="-120"/>
              </a:rPr>
              <a:t>Requests matched normal invoice cadence and formatting</a:t>
            </a:r>
            <a:endParaRPr lang="en-US" sz="1150" dirty="0"/>
          </a:p>
          <a:p>
            <a:pPr marL="342900" indent="-342900">
              <a:buSzPct val="100000"/>
              <a:buChar char="•"/>
            </a:pPr>
            <a:r>
              <a:rPr lang="en-US" sz="1150" dirty="0">
                <a:solidFill>
                  <a:srgbClr val="C7D0DE"/>
                </a:solidFill>
                <a:latin typeface="Calibri" pitchFamily="34" charset="0"/>
                <a:ea typeface="Calibri" pitchFamily="34" charset="-122"/>
                <a:cs typeface="Calibri" pitchFamily="34" charset="-120"/>
              </a:rPr>
              <a:t>No single unusual request — the entire scheme relied on payments looking routine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457200"/>
            <a:ext cx="4572000" cy="365760"/>
          </a:xfrm>
          <a:prstGeom prst="rect">
            <a:avLst/>
          </a:prstGeom>
          <a:noFill/>
          <a:ln/>
        </p:spPr>
        <p:txBody>
          <a:bodyPr wrap="square" lIns="0" tIns="0" rIns="0" bIns="0" rtlCol="0" anchor="ctr"/>
          <a:lstStyle/>
          <a:p>
            <a:pPr indent="0" marL="0">
              <a:buNone/>
            </a:pPr>
            <a:r>
              <a:rPr lang="en-US" sz="1300" b="1" spc="200" kern="0" dirty="0">
                <a:solidFill>
                  <a:srgbClr val="D7263D"/>
                </a:solidFill>
                <a:latin typeface="Calibri" pitchFamily="34" charset="0"/>
                <a:ea typeface="Calibri" pitchFamily="34" charset="-122"/>
                <a:cs typeface="Calibri" pitchFamily="34" charset="-120"/>
              </a:rPr>
              <a:t>CASE STUDY</a:t>
            </a:r>
            <a:endParaRPr lang="en-US" sz="1300" dirty="0"/>
          </a:p>
        </p:txBody>
      </p:sp>
      <p:sp>
        <p:nvSpPr>
          <p:cNvPr id="3" name="Text 1"/>
          <p:cNvSpPr/>
          <p:nvPr/>
        </p:nvSpPr>
        <p:spPr>
          <a:xfrm>
            <a:off x="548640" y="777240"/>
            <a:ext cx="8229600" cy="822960"/>
          </a:xfrm>
          <a:prstGeom prst="rect">
            <a:avLst/>
          </a:prstGeom>
          <a:noFill/>
          <a:ln/>
        </p:spPr>
        <p:txBody>
          <a:bodyPr wrap="square" lIns="0" tIns="0" rIns="0" bIns="0" rtlCol="0" anchor="ctr"/>
          <a:lstStyle/>
          <a:p>
            <a:pPr indent="0" marL="0">
              <a:buNone/>
            </a:pPr>
            <a:r>
              <a:rPr lang="en-US" sz="2800" b="1" dirty="0">
                <a:solidFill>
                  <a:srgbClr val="1B2430"/>
                </a:solidFill>
                <a:latin typeface="Cambria" pitchFamily="34" charset="0"/>
                <a:ea typeface="Cambria" pitchFamily="34" charset="-122"/>
                <a:cs typeface="Cambria" pitchFamily="34" charset="-120"/>
              </a:rPr>
              <a:t>A Vendor's Inbox as the Way In</a:t>
            </a:r>
            <a:endParaRPr lang="en-US" sz="2800" dirty="0"/>
          </a:p>
        </p:txBody>
      </p:sp>
      <p:sp>
        <p:nvSpPr>
          <p:cNvPr id="4" name="Shape 2"/>
          <p:cNvSpPr/>
          <p:nvPr/>
        </p:nvSpPr>
        <p:spPr>
          <a:xfrm>
            <a:off x="9784080" y="822960"/>
            <a:ext cx="1371600" cy="1371600"/>
          </a:xfrm>
          <a:prstGeom prst="ellipse">
            <a:avLst/>
          </a:prstGeom>
          <a:solidFill>
            <a:srgbClr val="FDEBEC"/>
          </a:solidFill>
          <a:ln/>
        </p:spPr>
      </p:sp>
      <p:pic>
        <p:nvPicPr>
          <p:cNvPr id="5" name="Image 0" descr="preencoded.png">    </p:cNvPr>
          <p:cNvPicPr>
            <a:picLocks noChangeAspect="1"/>
          </p:cNvPicPr>
          <p:nvPr/>
        </p:nvPicPr>
        <p:blipFill>
          <a:blip r:embed="rId1"/>
          <a:stretch>
            <a:fillRect/>
          </a:stretch>
        </p:blipFill>
        <p:spPr>
          <a:xfrm>
            <a:off x="10012680" y="1051560"/>
            <a:ext cx="914400" cy="914400"/>
          </a:xfrm>
          <a:prstGeom prst="rect">
            <a:avLst/>
          </a:prstGeom>
        </p:spPr>
      </p:pic>
      <p:sp>
        <p:nvSpPr>
          <p:cNvPr id="6" name="Text 3"/>
          <p:cNvSpPr/>
          <p:nvPr/>
        </p:nvSpPr>
        <p:spPr>
          <a:xfrm>
            <a:off x="548640" y="1874520"/>
            <a:ext cx="8778240" cy="1417320"/>
          </a:xfrm>
          <a:prstGeom prst="rect">
            <a:avLst/>
          </a:prstGeom>
          <a:noFill/>
          <a:ln/>
        </p:spPr>
        <p:txBody>
          <a:bodyPr wrap="square" lIns="0" tIns="0" rIns="0" bIns="0" rtlCol="0" anchor="ctr"/>
          <a:lstStyle/>
          <a:p>
            <a:pPr indent="0" marL="0">
              <a:buNone/>
            </a:pPr>
            <a:r>
              <a:rPr lang="en-US" sz="1350" dirty="0">
                <a:solidFill>
                  <a:srgbClr val="1B2430"/>
                </a:solidFill>
                <a:latin typeface="Calibri" pitchFamily="34" charset="0"/>
                <a:ea typeface="Calibri" pitchFamily="34" charset="-122"/>
                <a:cs typeface="Calibri" pitchFamily="34" charset="-120"/>
              </a:rPr>
              <a:t>In late 2013, attackers sent a phishing email carrying credential-stealing malware to employees at a small HVAC and refrigeration contractor that did business with a major US retailer. </a:t>
            </a:r>
            <a:endParaRPr lang="en-US" sz="1350" dirty="0"/>
          </a:p>
          <a:p>
            <a:pPr indent="0" marL="0">
              <a:buNone/>
            </a:pPr>
            <a:r>
              <a:rPr lang="en-US" sz="1350" dirty="0">
                <a:solidFill>
                  <a:srgbClr val="1B2430"/>
                </a:solidFill>
                <a:latin typeface="Calibri" pitchFamily="34" charset="0"/>
                <a:ea typeface="Calibri" pitchFamily="34" charset="-122"/>
                <a:cs typeface="Calibri" pitchFamily="34" charset="-120"/>
              </a:rPr>
              <a:t>An employee opened the email, and the stolen credentials were later used to access the retailer's vendor portal — a foothold that gave attackers a path onto the retailer's internal network.</a:t>
            </a:r>
            <a:endParaRPr lang="en-US" sz="1350" dirty="0"/>
          </a:p>
        </p:txBody>
      </p:sp>
      <p:sp>
        <p:nvSpPr>
          <p:cNvPr id="7" name="Shape 4"/>
          <p:cNvSpPr/>
          <p:nvPr/>
        </p:nvSpPr>
        <p:spPr>
          <a:xfrm>
            <a:off x="548640" y="3429000"/>
            <a:ext cx="2697480" cy="1188720"/>
          </a:xfrm>
          <a:prstGeom prst="roundRect">
            <a:avLst>
              <a:gd name="adj" fmla="val 6154"/>
            </a:avLst>
          </a:prstGeom>
          <a:solidFill>
            <a:srgbClr val="FFFFFF"/>
          </a:solidFill>
          <a:ln/>
          <a:effectLst>
            <a:outerShdw sx="100000" sy="100000" kx="0" ky="0" algn="bl" rotWithShape="0" blurRad="101600" dist="38100" dir="2700000">
              <a:srgbClr val="000000">
                <a:alpha val="12000"/>
              </a:srgbClr>
            </a:outerShdw>
          </a:effectLst>
        </p:spPr>
      </p:sp>
      <p:sp>
        <p:nvSpPr>
          <p:cNvPr id="8" name="Text 5"/>
          <p:cNvSpPr/>
          <p:nvPr/>
        </p:nvSpPr>
        <p:spPr>
          <a:xfrm>
            <a:off x="685800" y="3520440"/>
            <a:ext cx="2423160" cy="548640"/>
          </a:xfrm>
          <a:prstGeom prst="rect">
            <a:avLst/>
          </a:prstGeom>
          <a:noFill/>
          <a:ln/>
        </p:spPr>
        <p:txBody>
          <a:bodyPr wrap="square" lIns="0" tIns="0" rIns="0" bIns="0" rtlCol="0" anchor="ctr"/>
          <a:lstStyle/>
          <a:p>
            <a:pPr indent="0" marL="0">
              <a:buNone/>
            </a:pPr>
            <a:r>
              <a:rPr lang="en-US" sz="2600" b="1" dirty="0">
                <a:solidFill>
                  <a:srgbClr val="A31621"/>
                </a:solidFill>
                <a:latin typeface="Cambria" pitchFamily="34" charset="0"/>
                <a:ea typeface="Cambria" pitchFamily="34" charset="-122"/>
                <a:cs typeface="Cambria" pitchFamily="34" charset="-120"/>
              </a:rPr>
              <a:t>40M+</a:t>
            </a:r>
            <a:endParaRPr lang="en-US" sz="2600" dirty="0"/>
          </a:p>
        </p:txBody>
      </p:sp>
      <p:sp>
        <p:nvSpPr>
          <p:cNvPr id="9" name="Text 6"/>
          <p:cNvSpPr/>
          <p:nvPr/>
        </p:nvSpPr>
        <p:spPr>
          <a:xfrm>
            <a:off x="685800" y="4069080"/>
            <a:ext cx="2423160" cy="502920"/>
          </a:xfrm>
          <a:prstGeom prst="rect">
            <a:avLst/>
          </a:prstGeom>
          <a:noFill/>
          <a:ln/>
        </p:spPr>
        <p:txBody>
          <a:bodyPr wrap="square" lIns="0" tIns="0" rIns="0" bIns="0" rtlCol="0" anchor="ctr"/>
          <a:lstStyle/>
          <a:p>
            <a:pPr indent="0" marL="0">
              <a:buNone/>
            </a:pPr>
            <a:r>
              <a:rPr lang="en-US" sz="1000" dirty="0">
                <a:solidFill>
                  <a:srgbClr val="6B7686"/>
                </a:solidFill>
                <a:latin typeface="Calibri" pitchFamily="34" charset="0"/>
                <a:ea typeface="Calibri" pitchFamily="34" charset="-122"/>
                <a:cs typeface="Calibri" pitchFamily="34" charset="-120"/>
              </a:rPr>
              <a:t>payment card numbers exposed</a:t>
            </a:r>
            <a:endParaRPr lang="en-US" sz="1000" dirty="0"/>
          </a:p>
        </p:txBody>
      </p:sp>
      <p:sp>
        <p:nvSpPr>
          <p:cNvPr id="10" name="Shape 7"/>
          <p:cNvSpPr/>
          <p:nvPr/>
        </p:nvSpPr>
        <p:spPr>
          <a:xfrm>
            <a:off x="3429000" y="3429000"/>
            <a:ext cx="2697480" cy="1188720"/>
          </a:xfrm>
          <a:prstGeom prst="roundRect">
            <a:avLst>
              <a:gd name="adj" fmla="val 6154"/>
            </a:avLst>
          </a:prstGeom>
          <a:solidFill>
            <a:srgbClr val="FFFFFF"/>
          </a:solidFill>
          <a:ln/>
          <a:effectLst>
            <a:outerShdw sx="100000" sy="100000" kx="0" ky="0" algn="bl" rotWithShape="0" blurRad="101600" dist="38100" dir="2700000">
              <a:srgbClr val="000000">
                <a:alpha val="12000"/>
              </a:srgbClr>
            </a:outerShdw>
          </a:effectLst>
        </p:spPr>
      </p:sp>
      <p:sp>
        <p:nvSpPr>
          <p:cNvPr id="11" name="Text 8"/>
          <p:cNvSpPr/>
          <p:nvPr/>
        </p:nvSpPr>
        <p:spPr>
          <a:xfrm>
            <a:off x="3566160" y="3520440"/>
            <a:ext cx="2423160" cy="548640"/>
          </a:xfrm>
          <a:prstGeom prst="rect">
            <a:avLst/>
          </a:prstGeom>
          <a:noFill/>
          <a:ln/>
        </p:spPr>
        <p:txBody>
          <a:bodyPr wrap="square" lIns="0" tIns="0" rIns="0" bIns="0" rtlCol="0" anchor="ctr"/>
          <a:lstStyle/>
          <a:p>
            <a:pPr indent="0" marL="0">
              <a:buNone/>
            </a:pPr>
            <a:r>
              <a:rPr lang="en-US" sz="2600" b="1" dirty="0">
                <a:solidFill>
                  <a:srgbClr val="A31621"/>
                </a:solidFill>
                <a:latin typeface="Cambria" pitchFamily="34" charset="0"/>
                <a:ea typeface="Cambria" pitchFamily="34" charset="-122"/>
                <a:cs typeface="Cambria" pitchFamily="34" charset="-120"/>
              </a:rPr>
              <a:t>70M+</a:t>
            </a:r>
            <a:endParaRPr lang="en-US" sz="2600" dirty="0"/>
          </a:p>
        </p:txBody>
      </p:sp>
      <p:sp>
        <p:nvSpPr>
          <p:cNvPr id="12" name="Text 9"/>
          <p:cNvSpPr/>
          <p:nvPr/>
        </p:nvSpPr>
        <p:spPr>
          <a:xfrm>
            <a:off x="3566160" y="4069080"/>
            <a:ext cx="2423160" cy="502920"/>
          </a:xfrm>
          <a:prstGeom prst="rect">
            <a:avLst/>
          </a:prstGeom>
          <a:noFill/>
          <a:ln/>
        </p:spPr>
        <p:txBody>
          <a:bodyPr wrap="square" lIns="0" tIns="0" rIns="0" bIns="0" rtlCol="0" anchor="ctr"/>
          <a:lstStyle/>
          <a:p>
            <a:pPr indent="0" marL="0">
              <a:buNone/>
            </a:pPr>
            <a:r>
              <a:rPr lang="en-US" sz="1000" dirty="0">
                <a:solidFill>
                  <a:srgbClr val="6B7686"/>
                </a:solidFill>
                <a:latin typeface="Calibri" pitchFamily="34" charset="0"/>
                <a:ea typeface="Calibri" pitchFamily="34" charset="-122"/>
                <a:cs typeface="Calibri" pitchFamily="34" charset="-120"/>
              </a:rPr>
              <a:t>customer records compromised</a:t>
            </a:r>
            <a:endParaRPr lang="en-US" sz="1000" dirty="0"/>
          </a:p>
        </p:txBody>
      </p:sp>
      <p:sp>
        <p:nvSpPr>
          <p:cNvPr id="13" name="Shape 10"/>
          <p:cNvSpPr/>
          <p:nvPr/>
        </p:nvSpPr>
        <p:spPr>
          <a:xfrm>
            <a:off x="6309360" y="3429000"/>
            <a:ext cx="2697480" cy="1188720"/>
          </a:xfrm>
          <a:prstGeom prst="roundRect">
            <a:avLst>
              <a:gd name="adj" fmla="val 6154"/>
            </a:avLst>
          </a:prstGeom>
          <a:solidFill>
            <a:srgbClr val="FFFFFF"/>
          </a:solidFill>
          <a:ln/>
          <a:effectLst>
            <a:outerShdw sx="100000" sy="100000" kx="0" ky="0" algn="bl" rotWithShape="0" blurRad="101600" dist="38100" dir="2700000">
              <a:srgbClr val="000000">
                <a:alpha val="12000"/>
              </a:srgbClr>
            </a:outerShdw>
          </a:effectLst>
        </p:spPr>
      </p:sp>
      <p:sp>
        <p:nvSpPr>
          <p:cNvPr id="14" name="Text 11"/>
          <p:cNvSpPr/>
          <p:nvPr/>
        </p:nvSpPr>
        <p:spPr>
          <a:xfrm>
            <a:off x="6446520" y="3520440"/>
            <a:ext cx="2423160" cy="548640"/>
          </a:xfrm>
          <a:prstGeom prst="rect">
            <a:avLst/>
          </a:prstGeom>
          <a:noFill/>
          <a:ln/>
        </p:spPr>
        <p:txBody>
          <a:bodyPr wrap="square" lIns="0" tIns="0" rIns="0" bIns="0" rtlCol="0" anchor="ctr"/>
          <a:lstStyle/>
          <a:p>
            <a:pPr indent="0" marL="0">
              <a:buNone/>
            </a:pPr>
            <a:r>
              <a:rPr lang="en-US" sz="2600" b="1" dirty="0">
                <a:solidFill>
                  <a:srgbClr val="A31621"/>
                </a:solidFill>
                <a:latin typeface="Cambria" pitchFamily="34" charset="0"/>
                <a:ea typeface="Cambria" pitchFamily="34" charset="-122"/>
                <a:cs typeface="Cambria" pitchFamily="34" charset="-120"/>
              </a:rPr>
              <a:t>~$200M</a:t>
            </a:r>
            <a:endParaRPr lang="en-US" sz="2600" dirty="0"/>
          </a:p>
        </p:txBody>
      </p:sp>
      <p:sp>
        <p:nvSpPr>
          <p:cNvPr id="15" name="Text 12"/>
          <p:cNvSpPr/>
          <p:nvPr/>
        </p:nvSpPr>
        <p:spPr>
          <a:xfrm>
            <a:off x="6446520" y="4069080"/>
            <a:ext cx="2423160" cy="502920"/>
          </a:xfrm>
          <a:prstGeom prst="rect">
            <a:avLst/>
          </a:prstGeom>
          <a:noFill/>
          <a:ln/>
        </p:spPr>
        <p:txBody>
          <a:bodyPr wrap="square" lIns="0" tIns="0" rIns="0" bIns="0" rtlCol="0" anchor="ctr"/>
          <a:lstStyle/>
          <a:p>
            <a:pPr indent="0" marL="0">
              <a:buNone/>
            </a:pPr>
            <a:r>
              <a:rPr lang="en-US" sz="1000" dirty="0">
                <a:solidFill>
                  <a:srgbClr val="6B7686"/>
                </a:solidFill>
                <a:latin typeface="Calibri" pitchFamily="34" charset="0"/>
                <a:ea typeface="Calibri" pitchFamily="34" charset="-122"/>
                <a:cs typeface="Calibri" pitchFamily="34" charset="-120"/>
              </a:rPr>
              <a:t>estimated cost across settlements and remediation</a:t>
            </a:r>
            <a:endParaRPr lang="en-US" sz="1000" dirty="0"/>
          </a:p>
        </p:txBody>
      </p:sp>
      <p:sp>
        <p:nvSpPr>
          <p:cNvPr id="16" name="Text 13"/>
          <p:cNvSpPr/>
          <p:nvPr/>
        </p:nvSpPr>
        <p:spPr>
          <a:xfrm>
            <a:off x="548640" y="4892040"/>
            <a:ext cx="4572000" cy="36576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Why it matters for you</a:t>
            </a:r>
            <a:endParaRPr lang="en-US" sz="1300" dirty="0"/>
          </a:p>
        </p:txBody>
      </p:sp>
      <p:sp>
        <p:nvSpPr>
          <p:cNvPr id="17" name="Text 14"/>
          <p:cNvSpPr/>
          <p:nvPr/>
        </p:nvSpPr>
        <p:spPr>
          <a:xfrm>
            <a:off x="548640" y="5257800"/>
            <a:ext cx="9601200" cy="914400"/>
          </a:xfrm>
          <a:prstGeom prst="rect">
            <a:avLst/>
          </a:prstGeom>
          <a:noFill/>
          <a:ln/>
        </p:spPr>
        <p:txBody>
          <a:bodyPr wrap="square" lIns="0" tIns="0" rIns="0" bIns="0" rtlCol="0" anchor="ctr"/>
          <a:lstStyle/>
          <a:p>
            <a:pPr marL="342900" indent="-342900">
              <a:buSzPct val="100000"/>
              <a:buChar char="•"/>
            </a:pPr>
            <a:r>
              <a:rPr lang="en-US" sz="1150" dirty="0">
                <a:solidFill>
                  <a:srgbClr val="1B2430"/>
                </a:solidFill>
                <a:latin typeface="Calibri" pitchFamily="34" charset="0"/>
                <a:ea typeface="Calibri" pitchFamily="34" charset="-122"/>
                <a:cs typeface="Calibri" pitchFamily="34" charset="-120"/>
              </a:rPr>
              <a:t>Attackers often target the weakest link in a trusted network of vendors, not just the primary target directly</a:t>
            </a:r>
            <a:endParaRPr lang="en-US" sz="1150" dirty="0"/>
          </a:p>
          <a:p>
            <a:pPr marL="342900" indent="-342900">
              <a:buSzPct val="100000"/>
              <a:buChar char="•"/>
            </a:pPr>
            <a:r>
              <a:rPr lang="en-US" sz="1150" dirty="0">
                <a:solidFill>
                  <a:srgbClr val="1B2430"/>
                </a:solidFill>
                <a:latin typeface="Calibri" pitchFamily="34" charset="0"/>
                <a:ea typeface="Calibri" pitchFamily="34" charset="-122"/>
                <a:cs typeface="Calibri" pitchFamily="34" charset="-120"/>
              </a:rPr>
              <a:t>One employee's inbox became the entry point for a breach affecting tens of millions of people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Cheat Sheet: The 10-Second Check</a:t>
            </a:r>
            <a:endParaRPr lang="en-US" sz="3000" dirty="0"/>
          </a:p>
        </p:txBody>
      </p:sp>
      <p:sp>
        <p:nvSpPr>
          <p:cNvPr id="3" name="Text 1"/>
          <p:cNvSpPr/>
          <p:nvPr/>
        </p:nvSpPr>
        <p:spPr>
          <a:xfrm>
            <a:off x="548640" y="960120"/>
            <a:ext cx="9144000" cy="365760"/>
          </a:xfrm>
          <a:prstGeom prst="rect">
            <a:avLst/>
          </a:prstGeom>
          <a:noFill/>
          <a:ln/>
        </p:spPr>
        <p:txBody>
          <a:bodyPr wrap="square" lIns="0" tIns="0" rIns="0" bIns="0" rtlCol="0" anchor="ctr"/>
          <a:lstStyle/>
          <a:p>
            <a:pPr indent="0" marL="0">
              <a:buNone/>
            </a:pPr>
            <a:r>
              <a:rPr lang="en-US" sz="1300" dirty="0">
                <a:solidFill>
                  <a:srgbClr val="6B7686"/>
                </a:solidFill>
                <a:latin typeface="Calibri" pitchFamily="34" charset="0"/>
                <a:ea typeface="Calibri" pitchFamily="34" charset="-122"/>
                <a:cs typeface="Calibri" pitchFamily="34" charset="-120"/>
              </a:rPr>
              <a:t>Before you click, reply, or enter credentials — run through this.</a:t>
            </a:r>
            <a:endParaRPr lang="en-US" sz="1300" dirty="0"/>
          </a:p>
        </p:txBody>
      </p:sp>
      <p:sp>
        <p:nvSpPr>
          <p:cNvPr id="4" name="Shape 2"/>
          <p:cNvSpPr/>
          <p:nvPr/>
        </p:nvSpPr>
        <p:spPr>
          <a:xfrm>
            <a:off x="548640" y="1508760"/>
            <a:ext cx="6949440" cy="4434840"/>
          </a:xfrm>
          <a:prstGeom prst="roundRect">
            <a:avLst>
              <a:gd name="adj" fmla="val 1649"/>
            </a:avLst>
          </a:prstGeom>
          <a:solidFill>
            <a:srgbClr val="FFFFFF"/>
          </a:solidFill>
          <a:ln/>
          <a:effectLst>
            <a:outerShdw sx="100000" sy="100000" kx="0" ky="0" algn="bl" rotWithShape="0" blurRad="101600" dist="38100" dir="2700000">
              <a:srgbClr val="000000">
                <a:alpha val="12000"/>
              </a:srgbClr>
            </a:outerShdw>
          </a:effectLst>
        </p:spPr>
      </p:sp>
      <p:sp>
        <p:nvSpPr>
          <p:cNvPr id="5" name="Shape 3"/>
          <p:cNvSpPr/>
          <p:nvPr/>
        </p:nvSpPr>
        <p:spPr>
          <a:xfrm>
            <a:off x="868680" y="1783080"/>
            <a:ext cx="502920" cy="502920"/>
          </a:xfrm>
          <a:prstGeom prst="ellipse">
            <a:avLst/>
          </a:prstGeom>
          <a:solidFill>
            <a:srgbClr val="14213D"/>
          </a:solidFill>
          <a:ln/>
        </p:spPr>
      </p:sp>
      <p:sp>
        <p:nvSpPr>
          <p:cNvPr id="6" name="Text 4"/>
          <p:cNvSpPr/>
          <p:nvPr/>
        </p:nvSpPr>
        <p:spPr>
          <a:xfrm>
            <a:off x="868680" y="1783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600200" y="1764792"/>
            <a:ext cx="1463040" cy="502920"/>
          </a:xfrm>
          <a:prstGeom prst="rect">
            <a:avLst/>
          </a:prstGeom>
          <a:noFill/>
          <a:ln/>
        </p:spPr>
        <p:txBody>
          <a:bodyPr wrap="square" lIns="0" tIns="0" rIns="0" bIns="0" rtlCol="0" anchor="ctr"/>
          <a:lstStyle/>
          <a:p>
            <a:pPr indent="0" marL="0">
              <a:buNone/>
            </a:pPr>
            <a:r>
              <a:rPr lang="en-US" sz="1300" b="1" dirty="0">
                <a:solidFill>
                  <a:srgbClr val="A31621"/>
                </a:solidFill>
                <a:latin typeface="Calibri" pitchFamily="34" charset="0"/>
                <a:ea typeface="Calibri" pitchFamily="34" charset="-122"/>
                <a:cs typeface="Calibri" pitchFamily="34" charset="-120"/>
              </a:rPr>
              <a:t>Sender</a:t>
            </a:r>
            <a:endParaRPr lang="en-US" sz="1300" dirty="0"/>
          </a:p>
        </p:txBody>
      </p:sp>
      <p:sp>
        <p:nvSpPr>
          <p:cNvPr id="8" name="Text 6"/>
          <p:cNvSpPr/>
          <p:nvPr/>
        </p:nvSpPr>
        <p:spPr>
          <a:xfrm>
            <a:off x="3063240" y="1764792"/>
            <a:ext cx="4251960" cy="502920"/>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Full address checked, not just the display name?</a:t>
            </a:r>
            <a:endParaRPr lang="en-US" sz="1200" dirty="0"/>
          </a:p>
        </p:txBody>
      </p:sp>
      <p:sp>
        <p:nvSpPr>
          <p:cNvPr id="9" name="Shape 7"/>
          <p:cNvSpPr/>
          <p:nvPr/>
        </p:nvSpPr>
        <p:spPr>
          <a:xfrm>
            <a:off x="868680" y="2404872"/>
            <a:ext cx="6309360" cy="0"/>
          </a:xfrm>
          <a:prstGeom prst="line">
            <a:avLst/>
          </a:prstGeom>
          <a:noFill/>
          <a:ln w="12700">
            <a:solidFill>
              <a:srgbClr val="E4E8F0"/>
            </a:solidFill>
            <a:prstDash val="solid"/>
          </a:ln>
        </p:spPr>
      </p:sp>
      <p:sp>
        <p:nvSpPr>
          <p:cNvPr id="10" name="Shape 8"/>
          <p:cNvSpPr/>
          <p:nvPr/>
        </p:nvSpPr>
        <p:spPr>
          <a:xfrm>
            <a:off x="868680" y="2606040"/>
            <a:ext cx="502920" cy="502920"/>
          </a:xfrm>
          <a:prstGeom prst="ellipse">
            <a:avLst/>
          </a:prstGeom>
          <a:solidFill>
            <a:srgbClr val="14213D"/>
          </a:solidFill>
          <a:ln/>
        </p:spPr>
      </p:sp>
      <p:sp>
        <p:nvSpPr>
          <p:cNvPr id="11" name="Text 9"/>
          <p:cNvSpPr/>
          <p:nvPr/>
        </p:nvSpPr>
        <p:spPr>
          <a:xfrm>
            <a:off x="868680"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600200" y="2587752"/>
            <a:ext cx="1463040" cy="502920"/>
          </a:xfrm>
          <a:prstGeom prst="rect">
            <a:avLst/>
          </a:prstGeom>
          <a:noFill/>
          <a:ln/>
        </p:spPr>
        <p:txBody>
          <a:bodyPr wrap="square" lIns="0" tIns="0" rIns="0" bIns="0" rtlCol="0" anchor="ctr"/>
          <a:lstStyle/>
          <a:p>
            <a:pPr indent="0" marL="0">
              <a:buNone/>
            </a:pPr>
            <a:r>
              <a:rPr lang="en-US" sz="1300" b="1" dirty="0">
                <a:solidFill>
                  <a:srgbClr val="A31621"/>
                </a:solidFill>
                <a:latin typeface="Calibri" pitchFamily="34" charset="0"/>
                <a:ea typeface="Calibri" pitchFamily="34" charset="-122"/>
                <a:cs typeface="Calibri" pitchFamily="34" charset="-120"/>
              </a:rPr>
              <a:t>Tone</a:t>
            </a:r>
            <a:endParaRPr lang="en-US" sz="1300" dirty="0"/>
          </a:p>
        </p:txBody>
      </p:sp>
      <p:sp>
        <p:nvSpPr>
          <p:cNvPr id="13" name="Text 11"/>
          <p:cNvSpPr/>
          <p:nvPr/>
        </p:nvSpPr>
        <p:spPr>
          <a:xfrm>
            <a:off x="3063240" y="2587752"/>
            <a:ext cx="4251960" cy="502920"/>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Urgent, threatening, or unusually generic?</a:t>
            </a:r>
            <a:endParaRPr lang="en-US" sz="1200" dirty="0"/>
          </a:p>
        </p:txBody>
      </p:sp>
      <p:sp>
        <p:nvSpPr>
          <p:cNvPr id="14" name="Shape 12"/>
          <p:cNvSpPr/>
          <p:nvPr/>
        </p:nvSpPr>
        <p:spPr>
          <a:xfrm>
            <a:off x="868680" y="3227832"/>
            <a:ext cx="6309360" cy="0"/>
          </a:xfrm>
          <a:prstGeom prst="line">
            <a:avLst/>
          </a:prstGeom>
          <a:noFill/>
          <a:ln w="12700">
            <a:solidFill>
              <a:srgbClr val="E4E8F0"/>
            </a:solidFill>
            <a:prstDash val="solid"/>
          </a:ln>
        </p:spPr>
      </p:sp>
      <p:sp>
        <p:nvSpPr>
          <p:cNvPr id="15" name="Shape 13"/>
          <p:cNvSpPr/>
          <p:nvPr/>
        </p:nvSpPr>
        <p:spPr>
          <a:xfrm>
            <a:off x="868680" y="3429000"/>
            <a:ext cx="502920" cy="502920"/>
          </a:xfrm>
          <a:prstGeom prst="ellipse">
            <a:avLst/>
          </a:prstGeom>
          <a:solidFill>
            <a:srgbClr val="14213D"/>
          </a:solidFill>
          <a:ln/>
        </p:spPr>
      </p:sp>
      <p:sp>
        <p:nvSpPr>
          <p:cNvPr id="16" name="Text 14"/>
          <p:cNvSpPr/>
          <p:nvPr/>
        </p:nvSpPr>
        <p:spPr>
          <a:xfrm>
            <a:off x="868680" y="3429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600200" y="3410712"/>
            <a:ext cx="1463040" cy="502920"/>
          </a:xfrm>
          <a:prstGeom prst="rect">
            <a:avLst/>
          </a:prstGeom>
          <a:noFill/>
          <a:ln/>
        </p:spPr>
        <p:txBody>
          <a:bodyPr wrap="square" lIns="0" tIns="0" rIns="0" bIns="0" rtlCol="0" anchor="ctr"/>
          <a:lstStyle/>
          <a:p>
            <a:pPr indent="0" marL="0">
              <a:buNone/>
            </a:pPr>
            <a:r>
              <a:rPr lang="en-US" sz="1300" b="1" dirty="0">
                <a:solidFill>
                  <a:srgbClr val="A31621"/>
                </a:solidFill>
                <a:latin typeface="Calibri" pitchFamily="34" charset="0"/>
                <a:ea typeface="Calibri" pitchFamily="34" charset="-122"/>
                <a:cs typeface="Calibri" pitchFamily="34" charset="-120"/>
              </a:rPr>
              <a:t>Links</a:t>
            </a:r>
            <a:endParaRPr lang="en-US" sz="1300" dirty="0"/>
          </a:p>
        </p:txBody>
      </p:sp>
      <p:sp>
        <p:nvSpPr>
          <p:cNvPr id="18" name="Text 16"/>
          <p:cNvSpPr/>
          <p:nvPr/>
        </p:nvSpPr>
        <p:spPr>
          <a:xfrm>
            <a:off x="3063240" y="3410712"/>
            <a:ext cx="4251960" cy="502920"/>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Hovered to preview — does the real URL match?</a:t>
            </a:r>
            <a:endParaRPr lang="en-US" sz="1200" dirty="0"/>
          </a:p>
        </p:txBody>
      </p:sp>
      <p:sp>
        <p:nvSpPr>
          <p:cNvPr id="19" name="Shape 17"/>
          <p:cNvSpPr/>
          <p:nvPr/>
        </p:nvSpPr>
        <p:spPr>
          <a:xfrm>
            <a:off x="868680" y="4050792"/>
            <a:ext cx="6309360" cy="0"/>
          </a:xfrm>
          <a:prstGeom prst="line">
            <a:avLst/>
          </a:prstGeom>
          <a:noFill/>
          <a:ln w="12700">
            <a:solidFill>
              <a:srgbClr val="E4E8F0"/>
            </a:solidFill>
            <a:prstDash val="solid"/>
          </a:ln>
        </p:spPr>
      </p:sp>
      <p:sp>
        <p:nvSpPr>
          <p:cNvPr id="20" name="Shape 18"/>
          <p:cNvSpPr/>
          <p:nvPr/>
        </p:nvSpPr>
        <p:spPr>
          <a:xfrm>
            <a:off x="868680" y="4251960"/>
            <a:ext cx="502920" cy="502920"/>
          </a:xfrm>
          <a:prstGeom prst="ellipse">
            <a:avLst/>
          </a:prstGeom>
          <a:solidFill>
            <a:srgbClr val="14213D"/>
          </a:solidFill>
          <a:ln/>
        </p:spPr>
      </p:sp>
      <p:sp>
        <p:nvSpPr>
          <p:cNvPr id="21" name="Text 19"/>
          <p:cNvSpPr/>
          <p:nvPr/>
        </p:nvSpPr>
        <p:spPr>
          <a:xfrm>
            <a:off x="868680" y="4251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1600200" y="4233672"/>
            <a:ext cx="1463040" cy="502920"/>
          </a:xfrm>
          <a:prstGeom prst="rect">
            <a:avLst/>
          </a:prstGeom>
          <a:noFill/>
          <a:ln/>
        </p:spPr>
        <p:txBody>
          <a:bodyPr wrap="square" lIns="0" tIns="0" rIns="0" bIns="0" rtlCol="0" anchor="ctr"/>
          <a:lstStyle/>
          <a:p>
            <a:pPr indent="0" marL="0">
              <a:buNone/>
            </a:pPr>
            <a:r>
              <a:rPr lang="en-US" sz="1300" b="1" dirty="0">
                <a:solidFill>
                  <a:srgbClr val="A31621"/>
                </a:solidFill>
                <a:latin typeface="Calibri" pitchFamily="34" charset="0"/>
                <a:ea typeface="Calibri" pitchFamily="34" charset="-122"/>
                <a:cs typeface="Calibri" pitchFamily="34" charset="-120"/>
              </a:rPr>
              <a:t>Request</a:t>
            </a:r>
            <a:endParaRPr lang="en-US" sz="1300" dirty="0"/>
          </a:p>
        </p:txBody>
      </p:sp>
      <p:sp>
        <p:nvSpPr>
          <p:cNvPr id="23" name="Text 21"/>
          <p:cNvSpPr/>
          <p:nvPr/>
        </p:nvSpPr>
        <p:spPr>
          <a:xfrm>
            <a:off x="3063240" y="4233672"/>
            <a:ext cx="4251960" cy="502920"/>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Asking for credentials, payment, or sensitive data?</a:t>
            </a:r>
            <a:endParaRPr lang="en-US" sz="1200" dirty="0"/>
          </a:p>
        </p:txBody>
      </p:sp>
      <p:sp>
        <p:nvSpPr>
          <p:cNvPr id="24" name="Shape 22"/>
          <p:cNvSpPr/>
          <p:nvPr/>
        </p:nvSpPr>
        <p:spPr>
          <a:xfrm>
            <a:off x="868680" y="4873752"/>
            <a:ext cx="6309360" cy="0"/>
          </a:xfrm>
          <a:prstGeom prst="line">
            <a:avLst/>
          </a:prstGeom>
          <a:noFill/>
          <a:ln w="12700">
            <a:solidFill>
              <a:srgbClr val="E4E8F0"/>
            </a:solidFill>
            <a:prstDash val="solid"/>
          </a:ln>
        </p:spPr>
      </p:sp>
      <p:sp>
        <p:nvSpPr>
          <p:cNvPr id="25" name="Shape 23"/>
          <p:cNvSpPr/>
          <p:nvPr/>
        </p:nvSpPr>
        <p:spPr>
          <a:xfrm>
            <a:off x="868680" y="5074920"/>
            <a:ext cx="502920" cy="502920"/>
          </a:xfrm>
          <a:prstGeom prst="ellipse">
            <a:avLst/>
          </a:prstGeom>
          <a:solidFill>
            <a:srgbClr val="14213D"/>
          </a:solidFill>
          <a:ln/>
        </p:spPr>
      </p:sp>
      <p:sp>
        <p:nvSpPr>
          <p:cNvPr id="26" name="Text 24"/>
          <p:cNvSpPr/>
          <p:nvPr/>
        </p:nvSpPr>
        <p:spPr>
          <a:xfrm>
            <a:off x="868680" y="50749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1600200" y="5056632"/>
            <a:ext cx="1463040" cy="502920"/>
          </a:xfrm>
          <a:prstGeom prst="rect">
            <a:avLst/>
          </a:prstGeom>
          <a:noFill/>
          <a:ln/>
        </p:spPr>
        <p:txBody>
          <a:bodyPr wrap="square" lIns="0" tIns="0" rIns="0" bIns="0" rtlCol="0" anchor="ctr"/>
          <a:lstStyle/>
          <a:p>
            <a:pPr indent="0" marL="0">
              <a:buNone/>
            </a:pPr>
            <a:r>
              <a:rPr lang="en-US" sz="1300" b="1" dirty="0">
                <a:solidFill>
                  <a:srgbClr val="A31621"/>
                </a:solidFill>
                <a:latin typeface="Calibri" pitchFamily="34" charset="0"/>
                <a:ea typeface="Calibri" pitchFamily="34" charset="-122"/>
                <a:cs typeface="Calibri" pitchFamily="34" charset="-120"/>
              </a:rPr>
              <a:t>Channel</a:t>
            </a:r>
            <a:endParaRPr lang="en-US" sz="1300" dirty="0"/>
          </a:p>
        </p:txBody>
      </p:sp>
      <p:sp>
        <p:nvSpPr>
          <p:cNvPr id="28" name="Text 26"/>
          <p:cNvSpPr/>
          <p:nvPr/>
        </p:nvSpPr>
        <p:spPr>
          <a:xfrm>
            <a:off x="3063240" y="5056632"/>
            <a:ext cx="4251960" cy="502920"/>
          </a:xfrm>
          <a:prstGeom prst="rect">
            <a:avLst/>
          </a:prstGeom>
          <a:noFill/>
          <a:ln/>
        </p:spPr>
        <p:txBody>
          <a:bodyPr wrap="square" lIns="0" tIns="0" rIns="0" bIns="0" rtlCol="0" anchor="ctr"/>
          <a:lstStyle/>
          <a:p>
            <a:pPr indent="0" marL="0">
              <a:buNone/>
            </a:pPr>
            <a:r>
              <a:rPr lang="en-US" sz="1200" dirty="0">
                <a:solidFill>
                  <a:srgbClr val="1B2430"/>
                </a:solidFill>
                <a:latin typeface="Calibri" pitchFamily="34" charset="0"/>
                <a:ea typeface="Calibri" pitchFamily="34" charset="-122"/>
                <a:cs typeface="Calibri" pitchFamily="34" charset="-120"/>
              </a:rPr>
              <a:t>Can this be verified another way before acting?</a:t>
            </a:r>
            <a:endParaRPr lang="en-US" sz="1200" dirty="0"/>
          </a:p>
        </p:txBody>
      </p:sp>
      <p:sp>
        <p:nvSpPr>
          <p:cNvPr id="29" name="Shape 27"/>
          <p:cNvSpPr/>
          <p:nvPr/>
        </p:nvSpPr>
        <p:spPr>
          <a:xfrm>
            <a:off x="7726680" y="1508760"/>
            <a:ext cx="3886200" cy="4434840"/>
          </a:xfrm>
          <a:prstGeom prst="roundRect">
            <a:avLst>
              <a:gd name="adj" fmla="val 1882"/>
            </a:avLst>
          </a:prstGeom>
          <a:solidFill>
            <a:srgbClr val="14213D"/>
          </a:solidFill>
          <a:ln/>
        </p:spPr>
      </p:sp>
      <p:pic>
        <p:nvPicPr>
          <p:cNvPr id="30" name="Image 0" descr="preencoded.png">    </p:cNvPr>
          <p:cNvPicPr>
            <a:picLocks noChangeAspect="1"/>
          </p:cNvPicPr>
          <p:nvPr/>
        </p:nvPicPr>
        <p:blipFill>
          <a:blip r:embed="rId1"/>
          <a:stretch>
            <a:fillRect/>
          </a:stretch>
        </p:blipFill>
        <p:spPr>
          <a:xfrm>
            <a:off x="8046720" y="1783080"/>
            <a:ext cx="502920" cy="502920"/>
          </a:xfrm>
          <a:prstGeom prst="rect">
            <a:avLst/>
          </a:prstGeom>
        </p:spPr>
      </p:pic>
      <p:sp>
        <p:nvSpPr>
          <p:cNvPr id="31" name="Text 28"/>
          <p:cNvSpPr/>
          <p:nvPr/>
        </p:nvSpPr>
        <p:spPr>
          <a:xfrm>
            <a:off x="7726680" y="2377440"/>
            <a:ext cx="34747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If any answer worries you</a:t>
            </a:r>
            <a:endParaRPr lang="en-US" sz="1500" dirty="0"/>
          </a:p>
        </p:txBody>
      </p:sp>
      <p:sp>
        <p:nvSpPr>
          <p:cNvPr id="32" name="Text 29"/>
          <p:cNvSpPr/>
          <p:nvPr/>
        </p:nvSpPr>
        <p:spPr>
          <a:xfrm>
            <a:off x="8001000" y="2926080"/>
            <a:ext cx="3337560" cy="2834640"/>
          </a:xfrm>
          <a:prstGeom prst="rect">
            <a:avLst/>
          </a:prstGeom>
          <a:noFill/>
          <a:ln/>
        </p:spPr>
        <p:txBody>
          <a:bodyPr wrap="square" lIns="0" tIns="0" rIns="0" bIns="0" rtlCol="0" anchor="ctr"/>
          <a:lstStyle/>
          <a:p>
            <a:pPr marL="342900" indent="-342900">
              <a:spcAft>
                <a:spcPts val="1000"/>
              </a:spcAft>
              <a:buSzPct val="100000"/>
              <a:buChar char="•"/>
            </a:pPr>
            <a:r>
              <a:rPr lang="en-US" sz="1150" dirty="0">
                <a:solidFill>
                  <a:srgbClr val="E4E8F0"/>
                </a:solidFill>
                <a:latin typeface="Calibri" pitchFamily="34" charset="0"/>
                <a:ea typeface="Calibri" pitchFamily="34" charset="-122"/>
                <a:cs typeface="Calibri" pitchFamily="34" charset="-120"/>
              </a:rPr>
              <a:t>Don't click, reply, or forward.</a:t>
            </a:r>
            <a:endParaRPr lang="en-US" sz="1150" dirty="0"/>
          </a:p>
          <a:p>
            <a:pPr marL="342900" indent="-342900">
              <a:spcAft>
                <a:spcPts val="1000"/>
              </a:spcAft>
              <a:buSzPct val="100000"/>
              <a:buChar char="•"/>
            </a:pPr>
            <a:r>
              <a:rPr lang="en-US" sz="1150" dirty="0">
                <a:solidFill>
                  <a:srgbClr val="E4E8F0"/>
                </a:solidFill>
                <a:latin typeface="Calibri" pitchFamily="34" charset="0"/>
                <a:ea typeface="Calibri" pitchFamily="34" charset="-122"/>
                <a:cs typeface="Calibri" pitchFamily="34" charset="-120"/>
              </a:rPr>
              <a:t>Don't enter any credentials.</a:t>
            </a:r>
            <a:endParaRPr lang="en-US" sz="1150" dirty="0"/>
          </a:p>
          <a:p>
            <a:pPr marL="342900" indent="-342900">
              <a:spcAft>
                <a:spcPts val="1000"/>
              </a:spcAft>
              <a:buSzPct val="100000"/>
              <a:buChar char="•"/>
            </a:pPr>
            <a:r>
              <a:rPr lang="en-US" sz="1150" dirty="0">
                <a:solidFill>
                  <a:srgbClr val="E4E8F0"/>
                </a:solidFill>
                <a:latin typeface="Calibri" pitchFamily="34" charset="0"/>
                <a:ea typeface="Calibri" pitchFamily="34" charset="-122"/>
                <a:cs typeface="Calibri" pitchFamily="34" charset="-120"/>
              </a:rPr>
              <a:t>Report it to security using the official channel.</a:t>
            </a:r>
            <a:endParaRPr lang="en-US" sz="1150" dirty="0"/>
          </a:p>
          <a:p>
            <a:pPr marL="342900" indent="-342900">
              <a:spcAft>
                <a:spcPts val="1000"/>
              </a:spcAft>
              <a:buSzPct val="100000"/>
              <a:buChar char="•"/>
            </a:pPr>
            <a:r>
              <a:rPr lang="en-US" sz="1150" dirty="0">
                <a:solidFill>
                  <a:srgbClr val="E4E8F0"/>
                </a:solidFill>
                <a:latin typeface="Calibri" pitchFamily="34" charset="0"/>
                <a:ea typeface="Calibri" pitchFamily="34" charset="-122"/>
                <a:cs typeface="Calibri" pitchFamily="34" charset="-120"/>
              </a:rPr>
              <a:t>Warn a teammate if they may have received the same message.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3E5C76">
              <a:alpha val="22000"/>
            </a:srgbClr>
          </a:solidFill>
          <a:ln/>
        </p:spPr>
      </p:sp>
      <p:pic>
        <p:nvPicPr>
          <p:cNvPr id="3" name="Image 0" descr="preencoded.png">    </p:cNvPr>
          <p:cNvPicPr>
            <a:picLocks noChangeAspect="1"/>
          </p:cNvPicPr>
          <p:nvPr/>
        </p:nvPicPr>
        <p:blipFill>
          <a:blip r:embed="rId1"/>
          <a:stretch>
            <a:fillRect/>
          </a:stretch>
        </p:blipFill>
        <p:spPr>
          <a:xfrm>
            <a:off x="822960" y="914400"/>
            <a:ext cx="1005840" cy="1005840"/>
          </a:xfrm>
          <a:prstGeom prst="rect">
            <a:avLst/>
          </a:prstGeom>
        </p:spPr>
      </p:pic>
      <p:sp>
        <p:nvSpPr>
          <p:cNvPr id="4" name="Text 1"/>
          <p:cNvSpPr/>
          <p:nvPr/>
        </p:nvSpPr>
        <p:spPr>
          <a:xfrm>
            <a:off x="822960" y="2057400"/>
            <a:ext cx="91440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You Are the First Line of Defense</a:t>
            </a:r>
            <a:endParaRPr lang="en-US" sz="3200" dirty="0"/>
          </a:p>
        </p:txBody>
      </p:sp>
      <p:sp>
        <p:nvSpPr>
          <p:cNvPr id="5" name="Text 2"/>
          <p:cNvSpPr/>
          <p:nvPr/>
        </p:nvSpPr>
        <p:spPr>
          <a:xfrm>
            <a:off x="822960" y="2880360"/>
            <a:ext cx="8686800" cy="548640"/>
          </a:xfrm>
          <a:prstGeom prst="rect">
            <a:avLst/>
          </a:prstGeom>
          <a:noFill/>
          <a:ln/>
        </p:spPr>
        <p:txBody>
          <a:bodyPr wrap="square" lIns="0" tIns="0" rIns="0" bIns="0" rtlCol="0" anchor="ctr"/>
          <a:lstStyle/>
          <a:p>
            <a:pPr indent="0" marL="0">
              <a:buNone/>
            </a:pPr>
            <a:r>
              <a:rPr lang="en-US" sz="1500" dirty="0">
                <a:solidFill>
                  <a:srgbClr val="C7D0DE"/>
                </a:solidFill>
                <a:latin typeface="Calibri" pitchFamily="34" charset="0"/>
                <a:ea typeface="Calibri" pitchFamily="34" charset="-122"/>
                <a:cs typeface="Calibri" pitchFamily="34" charset="-120"/>
              </a:rPr>
              <a:t>No filter catches everything. The habits from this training are what stop the one that gets through.</a:t>
            </a:r>
            <a:endParaRPr lang="en-US" sz="1500" dirty="0"/>
          </a:p>
        </p:txBody>
      </p:sp>
      <p:sp>
        <p:nvSpPr>
          <p:cNvPr id="6" name="Shape 3"/>
          <p:cNvSpPr/>
          <p:nvPr/>
        </p:nvSpPr>
        <p:spPr>
          <a:xfrm>
            <a:off x="822960" y="3749040"/>
            <a:ext cx="10424160" cy="1737360"/>
          </a:xfrm>
          <a:prstGeom prst="roundRect">
            <a:avLst>
              <a:gd name="adj" fmla="val 4211"/>
            </a:avLst>
          </a:prstGeom>
          <a:solidFill>
            <a:srgbClr val="1F2E4D"/>
          </a:solidFill>
          <a:ln/>
        </p:spPr>
      </p:sp>
      <p:pic>
        <p:nvPicPr>
          <p:cNvPr id="7" name="Image 1" descr="preencoded.png">    </p:cNvPr>
          <p:cNvPicPr>
            <a:picLocks noChangeAspect="1"/>
          </p:cNvPicPr>
          <p:nvPr/>
        </p:nvPicPr>
        <p:blipFill>
          <a:blip r:embed="rId2"/>
          <a:stretch>
            <a:fillRect/>
          </a:stretch>
        </p:blipFill>
        <p:spPr>
          <a:xfrm>
            <a:off x="1143000" y="4160520"/>
            <a:ext cx="594360" cy="594360"/>
          </a:xfrm>
          <a:prstGeom prst="rect">
            <a:avLst/>
          </a:prstGeom>
        </p:spPr>
      </p:pic>
      <p:sp>
        <p:nvSpPr>
          <p:cNvPr id="8" name="Text 4"/>
          <p:cNvSpPr/>
          <p:nvPr/>
        </p:nvSpPr>
        <p:spPr>
          <a:xfrm>
            <a:off x="1965960" y="3977640"/>
            <a:ext cx="9052560" cy="13716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Reporting a suspicious email takes 10 seconds and protects everyone else.</a:t>
            </a:r>
            <a:endParaRPr lang="en-US" sz="1300" dirty="0"/>
          </a:p>
          <a:p>
            <a:pPr indent="0" marL="0">
              <a:buNone/>
            </a:pPr>
            <a:r>
              <a:rPr lang="en-US" sz="1300" dirty="0">
                <a:solidFill>
                  <a:srgbClr val="C7D0DE"/>
                </a:solidFill>
                <a:latin typeface="Calibri" pitchFamily="34" charset="0"/>
                <a:ea typeface="Calibri" pitchFamily="34" charset="-122"/>
                <a:cs typeface="Calibri" pitchFamily="34" charset="-120"/>
              </a:rPr>
              <a:t>Use your organization's official report-phishing button or forward it to your security team — every report helps block the campaign before it reaches a colleague.</a:t>
            </a:r>
            <a:endParaRPr lang="en-US" sz="1300" dirty="0"/>
          </a:p>
        </p:txBody>
      </p:sp>
      <p:sp>
        <p:nvSpPr>
          <p:cNvPr id="9" name="Text 5"/>
          <p:cNvSpPr/>
          <p:nvPr/>
        </p:nvSpPr>
        <p:spPr>
          <a:xfrm>
            <a:off x="822960" y="5806440"/>
            <a:ext cx="10058400" cy="457200"/>
          </a:xfrm>
          <a:prstGeom prst="rect">
            <a:avLst/>
          </a:prstGeom>
          <a:noFill/>
          <a:ln/>
        </p:spPr>
        <p:txBody>
          <a:bodyPr wrap="square" lIns="0" tIns="0" rIns="0" bIns="0" rtlCol="0" anchor="ctr"/>
          <a:lstStyle/>
          <a:p>
            <a:pPr indent="0" marL="0">
              <a:buNone/>
            </a:pPr>
            <a:r>
              <a:rPr lang="en-US" sz="1150" i="1" dirty="0">
                <a:solidFill>
                  <a:srgbClr val="9AA6B8"/>
                </a:solidFill>
                <a:latin typeface="Calibri" pitchFamily="34" charset="0"/>
                <a:ea typeface="Calibri" pitchFamily="34" charset="-122"/>
                <a:cs typeface="Calibri" pitchFamily="34" charset="-120"/>
              </a:rPr>
              <a:t>Questions? Reach out to your security or IT team anytime — reporting is never the wrong call.</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Awareness Training</dc:title>
  <dc:subject>PptxGenJS Presentation</dc:subject>
  <dc:creator>Phishing Awareness Training</dc:creator>
  <cp:lastModifiedBy>Phishing Awareness Training</cp:lastModifiedBy>
  <cp:revision>1</cp:revision>
  <dcterms:created xsi:type="dcterms:W3CDTF">2026-07-03T07:29:11Z</dcterms:created>
  <dcterms:modified xsi:type="dcterms:W3CDTF">2026-07-03T07:29:11Z</dcterms:modified>
</cp:coreProperties>
</file>